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" charset="1" panose="020B0604020202020204"/>
      <p:regular r:id="rId21"/>
    </p:embeddedFont>
    <p:embeddedFont>
      <p:font typeface="Arial Bold" charset="1" panose="020B0704020202020204"/>
      <p:regular r:id="rId22"/>
    </p:embeddedFont>
    <p:embeddedFont>
      <p:font typeface="Calibri (MS)" charset="1" panose="020F0502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9" Type="http://schemas.openxmlformats.org/officeDocument/2006/relationships/theme" Target="theme/theme2.xml"/><Relationship Id="rId20" Type="http://schemas.openxmlformats.org/officeDocument/2006/relationships/notesSlide" Target="notesSlides/notesSlide1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notesSlide" Target="notesSlides/notesSlide2.xml"/><Relationship Id="rId25" Type="http://schemas.openxmlformats.org/officeDocument/2006/relationships/notesSlide" Target="notesSlides/notesSlide3.xml"/><Relationship Id="rId26" Type="http://schemas.openxmlformats.org/officeDocument/2006/relationships/notesSlide" Target="notesSlides/notesSlide4.xml"/><Relationship Id="rId27" Type="http://schemas.openxmlformats.org/officeDocument/2006/relationships/notesSlide" Target="notesSlides/notesSlide5.xml"/><Relationship Id="rId28" Type="http://schemas.openxmlformats.org/officeDocument/2006/relationships/notesSlide" Target="notesSlides/notesSlide6.xml"/><Relationship Id="rId29" Type="http://schemas.openxmlformats.org/officeDocument/2006/relationships/notesSlide" Target="notesSlides/notesSlide7.xml"/><Relationship Id="rId30" Type="http://schemas.openxmlformats.org/officeDocument/2006/relationships/notesSlide" Target="notesSlides/notesSlide8.xml"/><Relationship Id="rId31" Type="http://schemas.openxmlformats.org/officeDocument/2006/relationships/notesSlide" Target="notesSlides/notesSlide9.xml"/><Relationship Id="rId32" Type="http://schemas.openxmlformats.org/officeDocument/2006/relationships/notesSlide" Target="notesSlides/notesSlide10.xml"/><Relationship Id="rId33" Type="http://schemas.openxmlformats.org/officeDocument/2006/relationships/notesSlide" Target="notesSlides/notesSlide11.xml"/><Relationship Id="rId34" Type="http://schemas.openxmlformats.org/officeDocument/2006/relationships/notesSlide" Target="notesSlides/notes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20s. Apresentar equipe e tema. A versão acadêmica do site não recebe pedidos nem pagamentos reais. Confirmar grafia e RAs com os participantes.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~50s. Apresentar a Pastelaria da Sogra em Sorocaba e o objetivo de organizar história, cardápio, fotografias, localização e contato em uma presença institucional própria. Citar seis páginas, 24 produtos e 16 fotos. Explicar que o checkout é demonstrativo, sem pedidos ou pagamentos reais.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~55s. Explicar três referências do benchmarking: Habib’s (categorias), Madero (hierarquia de informação) e iFood (fluxo de escolha). Mostrar o aprendizado aplicado no site: filtros, seções visuais e cards com preço e botão Adicionar. As capturas são referências, não elementos copiados para a interface.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~50s. Mostrar a evolução da Home em três protótipos: V1 (proposta inicial), V2 (refinamento) e V3 (aprovada). Descrever a revisão de hierarquia visual, espaços e mídias; não afirmar métricas inexistentes. Fechar com a identidade final (vermelho, amarelo e creme) e o critério: consistência entre as seis páginas e adaptação a telas menores.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~1min. Mostrar o fluxo Product Backlog → Sprint Backlog → Doing → Done. Na captura atualizada, os 41 cartões aparecem como 11 no Product Backlog, 1 no Sprint Backlog, 0 em Doing e 29 em Done. Em seguida, abrir o cartão Consolidar requisitos do projeto e mostrar objetivo, entregas, evidências, membro responsável, etiquetas e comentário com o levantamento detalhado. As capturas são do quadro atualizado para a AC2; contagens podem mudar posteriormente.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~55s. Apresentar as cinco pessoas, as responsabilidades reais mostradas e evidências no Trello ou GitHub. Confirmar com o grupo a grafia e os RAs dos dois Gabriéis, que estão com o mesmo nome. Não atribuir autoria de atividades sem confirmação.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~55s. Explicar as camadas: HTML5 estrutura, CSS3 aparência e responsividade, JavaScript interatividade (busca, filtros, galeria, checkout). localStorage guarda o carrinho no próprio navegador, sem servidor. O fluxo de compra é simulado: não há integração de pagamento. Fluxo de trabalho: Trello para planejar, GitHub para versionar e Vercel para publicar; a cada atualização na branch principal o site é republicado.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~50s. O site publicado tem seis páginas: Home, Cardápio, Carrinho, Nossa História, Galeria e Contato. Passar rapidamente pelo papel de cada uma (destaques e avaliações; 24 produtos com busca e filtros; carrinho com checkout simulado; história; 16 fotos com ampliação; mapa, rota e canais). Itens são demonstrativos. Capturas feitas do código atual do repositório; se preferir, troque por capturas do endereço da Vercel.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~2min30s. Abrir a Vercel e seguir os cinco passos: filtrar e adicionar dois produtos no cardápio; conferir quantidade e total no carrinho; mostrar o atalho para finalizar; testar um telefone inválido e mostrar a mensagem junto ao campo; completar a simulação e navegar pela galeria. Deixar dados fictícios preparados. Atenção à janela de horários no checkout (terça a domingo, 18h às 23h; segunda fechado). Plano B: manter prints ou um vídeo curto do fluxo no computador, caso a internet da sala falhe.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~1min10s. Explicar os exemplos documentados: SEO técnico (favicon, canonical, Open Graph, robots.txt, sitemap.xml e página 404), carrinho que ignora dados locais inválidos, testes manuais de navegação pelas seis páginas e verificações de carrinho, checkout, responsividade e teclado; imagens otimizadas e pré-carregamento da Galeria. Não afirmar que uma suíte automatizada de navegador foi executada, pois não há evidência documentada dela. Lighthouse apenas da Home: desktop 100/96/96/100 e mobile 99/96/96/100 (desempenho, acessibilidade, boas práticas, SEO). Evidências JPEG em docs/testes/lighthouse. As notas podem variar; não extrapolar para as demais páginas.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~1min10s. Explicar a diferença entre commits e tags e o padrão MAJOR.MINOR.PATCH. Conferência do GitHub antes da revisão: 77 commits na branch main e 8 tags publicadas. As sete tags v0.x representam marcos históricos identificados retrospectivamente nos commits reais; a tag anotada v1.0.0 já foi publicada e fixa a entrega estável aprovada pelo grupo. Mostrar a distinção entre a tag e commits posteriores apenas de documentação, sem dizer que a versão ainda está prevista. Se o repositório mudar depois, citar que a contagem refere-se à conferência desta revisão.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20s. Agradecer e abrir perguntas, sem ultrapassar 15 minutos.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e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e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e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e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Relationship Id="rId10" Type="http://schemas.openxmlformats.org/officeDocument/2006/relationships/image" Target="../media/image24.jpeg"/><Relationship Id="rId11" Type="http://schemas.openxmlformats.org/officeDocument/2006/relationships/image" Target="../media/image25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eg"/><Relationship Id="rId6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" y="7132320"/>
            <a:ext cx="18288000" cy="3154680"/>
            <a:chOff x="0" y="0"/>
            <a:chExt cx="24384000" cy="4206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206240"/>
            </a:xfrm>
            <a:custGeom>
              <a:avLst/>
              <a:gdLst/>
              <a:ahLst/>
              <a:cxnLst/>
              <a:rect r="r" b="b" t="t" l="l"/>
              <a:pathLst>
                <a:path h="4206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12467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" y="7086600"/>
            <a:ext cx="18283238" cy="114300"/>
            <a:chOff x="0" y="0"/>
            <a:chExt cx="24377650" cy="15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765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90" y="-19050"/>
            <a:ext cx="18283238" cy="7065712"/>
            <a:chOff x="0" y="0"/>
            <a:chExt cx="24377650" cy="94209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650" cy="9420987"/>
            </a:xfrm>
            <a:custGeom>
              <a:avLst/>
              <a:gdLst/>
              <a:ahLst/>
              <a:cxnLst/>
              <a:rect r="r" b="b" t="t" l="l"/>
              <a:pathLst>
                <a:path h="9420987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420987"/>
                  </a:lnTo>
                  <a:lnTo>
                    <a:pt x="0" y="9420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1115" y="228600"/>
            <a:ext cx="6323686" cy="6433356"/>
            <a:chOff x="0" y="0"/>
            <a:chExt cx="8431581" cy="85778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31530" cy="8577834"/>
            </a:xfrm>
            <a:custGeom>
              <a:avLst/>
              <a:gdLst/>
              <a:ahLst/>
              <a:cxnLst/>
              <a:rect r="r" b="b" t="t" l="l"/>
              <a:pathLst>
                <a:path h="8577834" w="8431530">
                  <a:moveTo>
                    <a:pt x="0" y="0"/>
                  </a:moveTo>
                  <a:lnTo>
                    <a:pt x="8431530" y="0"/>
                  </a:lnTo>
                  <a:lnTo>
                    <a:pt x="8431530" y="8577834"/>
                  </a:lnTo>
                  <a:lnTo>
                    <a:pt x="0" y="8577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955126" y="7086600"/>
            <a:ext cx="3306880" cy="3305546"/>
            <a:chOff x="0" y="0"/>
            <a:chExt cx="4409173" cy="44073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09186" cy="4407408"/>
            </a:xfrm>
            <a:custGeom>
              <a:avLst/>
              <a:gdLst/>
              <a:ahLst/>
              <a:cxnLst/>
              <a:rect r="r" b="b" t="t" l="l"/>
              <a:pathLst>
                <a:path h="4407408" w="4409186">
                  <a:moveTo>
                    <a:pt x="0" y="0"/>
                  </a:moveTo>
                  <a:lnTo>
                    <a:pt x="4409186" y="0"/>
                  </a:lnTo>
                  <a:lnTo>
                    <a:pt x="4409186" y="4407408"/>
                  </a:lnTo>
                  <a:lnTo>
                    <a:pt x="0" y="4407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67099" y="8867137"/>
            <a:ext cx="15553801" cy="1143000"/>
            <a:chOff x="0" y="0"/>
            <a:chExt cx="20738402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38401" cy="1524000"/>
            </a:xfrm>
            <a:custGeom>
              <a:avLst/>
              <a:gdLst/>
              <a:ahLst/>
              <a:cxnLst/>
              <a:rect r="r" b="b" t="t" l="l"/>
              <a:pathLst>
                <a:path h="1524000" w="20738401">
                  <a:moveTo>
                    <a:pt x="0" y="0"/>
                  </a:moveTo>
                  <a:lnTo>
                    <a:pt x="20738401" y="0"/>
                  </a:lnTo>
                  <a:lnTo>
                    <a:pt x="20738401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5149" r="0" b="-2151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738402" cy="1524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6"/>
                </a:lnSpc>
              </a:pPr>
              <a:r>
                <a:rPr lang="en-US" sz="1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Vitor Hugo R. dos Santos (RA 190508) · Davi de Oliveira Silva (RA 263232) · Matheus Giachetti (264921)</a:t>
              </a:r>
            </a:p>
            <a:p>
              <a:pPr algn="ctr">
                <a:lnSpc>
                  <a:spcPts val="2106"/>
                </a:lnSpc>
              </a:pPr>
              <a:r>
                <a:rPr lang="en-US" sz="1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Gabriel Martins Antunes (RA 264099) · Gabriel Martins Antunes (RA 263648)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13325" y="7412888"/>
            <a:ext cx="14456702" cy="1416148"/>
            <a:chOff x="0" y="0"/>
            <a:chExt cx="19275603" cy="18881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75600" cy="1888200"/>
            </a:xfrm>
            <a:custGeom>
              <a:avLst/>
              <a:gdLst/>
              <a:ahLst/>
              <a:cxnLst/>
              <a:rect r="r" b="b" t="t" l="l"/>
              <a:pathLst>
                <a:path h="1888200" w="19275600">
                  <a:moveTo>
                    <a:pt x="0" y="0"/>
                  </a:moveTo>
                  <a:lnTo>
                    <a:pt x="19275600" y="0"/>
                  </a:lnTo>
                  <a:lnTo>
                    <a:pt x="19275600" y="1888200"/>
                  </a:lnTo>
                  <a:lnTo>
                    <a:pt x="0" y="1888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8912" r="0" b="-14891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19275603" cy="18596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b="true" sz="54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Pastelaria da Sogra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50967" y="-7144"/>
            <a:ext cx="9644291" cy="1752190"/>
            <a:chOff x="0" y="0"/>
            <a:chExt cx="12859055" cy="23362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59004" cy="2336292"/>
            </a:xfrm>
            <a:custGeom>
              <a:avLst/>
              <a:gdLst/>
              <a:ahLst/>
              <a:cxnLst/>
              <a:rect r="r" b="b" t="t" l="l"/>
              <a:pathLst>
                <a:path h="2336292" w="12859004">
                  <a:moveTo>
                    <a:pt x="0" y="0"/>
                  </a:moveTo>
                  <a:lnTo>
                    <a:pt x="12859004" y="0"/>
                  </a:lnTo>
                  <a:lnTo>
                    <a:pt x="12859004" y="2336292"/>
                  </a:lnTo>
                  <a:lnTo>
                    <a:pt x="0" y="2336292"/>
                  </a:lnTo>
                  <a:close/>
                </a:path>
              </a:pathLst>
            </a:custGeom>
            <a:solidFill>
              <a:srgbClr val="124679"/>
            </a:solidFill>
            <a:ln w="14288" cap="sq">
              <a:solidFill>
                <a:srgbClr val="26305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52400"/>
              <a:ext cx="12859055" cy="2488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180"/>
                </a:lnSpc>
              </a:pPr>
              <a:r>
                <a:rPr lang="en-US" sz="7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Design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88813" y="8893950"/>
            <a:ext cx="1728187" cy="1326118"/>
            <a:chOff x="0" y="0"/>
            <a:chExt cx="2304250" cy="1768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4288" cy="1768094"/>
            </a:xfrm>
            <a:custGeom>
              <a:avLst/>
              <a:gdLst/>
              <a:ahLst/>
              <a:cxnLst/>
              <a:rect r="r" b="b" t="t" l="l"/>
              <a:pathLst>
                <a:path h="1768094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1768094"/>
                  </a:lnTo>
                  <a:lnTo>
                    <a:pt x="0" y="1768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26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16000" y="-2057400"/>
            <a:ext cx="6035040" cy="6035040"/>
            <a:chOff x="0" y="0"/>
            <a:chExt cx="8046720" cy="8046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467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8046720">
                  <a:moveTo>
                    <a:pt x="0" y="4023360"/>
                  </a:moveTo>
                  <a:cubicBezTo>
                    <a:pt x="0" y="1801368"/>
                    <a:pt x="1801368" y="0"/>
                    <a:pt x="4023360" y="0"/>
                  </a:cubicBezTo>
                  <a:cubicBezTo>
                    <a:pt x="6245352" y="0"/>
                    <a:pt x="8046720" y="1801368"/>
                    <a:pt x="8046720" y="4023360"/>
                  </a:cubicBezTo>
                  <a:cubicBezTo>
                    <a:pt x="8046720" y="6245352"/>
                    <a:pt x="6245352" y="8046720"/>
                    <a:pt x="4023360" y="8046720"/>
                  </a:cubicBezTo>
                  <a:cubicBezTo>
                    <a:pt x="1801368" y="8046720"/>
                    <a:pt x="0" y="6245352"/>
                    <a:pt x="0" y="4023360"/>
                  </a:cubicBezTo>
                  <a:close/>
                  <a:moveTo>
                    <a:pt x="684022" y="4023360"/>
                  </a:moveTo>
                  <a:cubicBezTo>
                    <a:pt x="684022" y="5867654"/>
                    <a:pt x="2179066" y="7362698"/>
                    <a:pt x="4023360" y="7362698"/>
                  </a:cubicBezTo>
                  <a:cubicBezTo>
                    <a:pt x="5867654" y="7362698"/>
                    <a:pt x="7362698" y="5867654"/>
                    <a:pt x="7362698" y="4023360"/>
                  </a:cubicBezTo>
                  <a:cubicBezTo>
                    <a:pt x="7362698" y="2179066"/>
                    <a:pt x="5867654" y="684022"/>
                    <a:pt x="4023360" y="684022"/>
                  </a:cubicBezTo>
                  <a:cubicBezTo>
                    <a:pt x="2179066" y="684022"/>
                    <a:pt x="684022" y="2179066"/>
                    <a:pt x="684022" y="4023360"/>
                  </a:cubicBezTo>
                  <a:close/>
                </a:path>
              </a:pathLst>
            </a:custGeom>
            <a:solidFill>
              <a:srgbClr val="00A3E0">
                <a:alpha val="2353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64940" y="2084832"/>
            <a:ext cx="301752" cy="301752"/>
            <a:chOff x="0" y="0"/>
            <a:chExt cx="402336" cy="4023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8428" y="493776"/>
            <a:ext cx="3497580" cy="411480"/>
            <a:chOff x="0" y="0"/>
            <a:chExt cx="466344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3440" cy="548640"/>
            </a:xfrm>
            <a:custGeom>
              <a:avLst/>
              <a:gdLst/>
              <a:ahLst/>
              <a:cxnLst/>
              <a:rect r="r" b="b" t="t" l="l"/>
              <a:pathLst>
                <a:path h="548640" w="46634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389120" y="0"/>
                  </a:lnTo>
                  <a:cubicBezTo>
                    <a:pt x="4540631" y="0"/>
                    <a:pt x="4663440" y="122809"/>
                    <a:pt x="4663440" y="274320"/>
                  </a:cubicBezTo>
                  <a:cubicBezTo>
                    <a:pt x="4663440" y="425831"/>
                    <a:pt x="4540631" y="548640"/>
                    <a:pt x="438912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CEFF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663440" cy="55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80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  ·  CONTEXTO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8428" y="987552"/>
            <a:ext cx="14127480" cy="987552"/>
            <a:chOff x="0" y="0"/>
            <a:chExt cx="1883664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366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744" r="0" b="-2287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836640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projeto: contexto e objetivo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38428" y="4732020"/>
            <a:ext cx="603504" cy="603504"/>
            <a:chOff x="0" y="0"/>
            <a:chExt cx="804672" cy="80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B5241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38428" y="4732020"/>
            <a:ext cx="603504" cy="603504"/>
            <a:chOff x="0" y="0"/>
            <a:chExt cx="804672" cy="8046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88820" y="4704588"/>
            <a:ext cx="7680960" cy="685800"/>
            <a:chOff x="0" y="0"/>
            <a:chExt cx="1024128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0241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B2F3A"/>
                  </a:solidFill>
                  <a:latin typeface="Arial"/>
                  <a:ea typeface="Arial"/>
                  <a:cs typeface="Arial"/>
                  <a:sym typeface="Arial"/>
                </a:rPr>
                <a:t>Apresentar a história e os diferenciais da empresa.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38428" y="5582412"/>
            <a:ext cx="603504" cy="603504"/>
            <a:chOff x="0" y="0"/>
            <a:chExt cx="804672" cy="8046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B5241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38428" y="5582412"/>
            <a:ext cx="603504" cy="603504"/>
            <a:chOff x="0" y="0"/>
            <a:chExt cx="804672" cy="80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88820" y="5554980"/>
            <a:ext cx="7680960" cy="685800"/>
            <a:chOff x="0" y="0"/>
            <a:chExt cx="1024128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0241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B2F3A"/>
                  </a:solidFill>
                  <a:latin typeface="Arial"/>
                  <a:ea typeface="Arial"/>
                  <a:cs typeface="Arial"/>
                  <a:sym typeface="Arial"/>
                </a:rPr>
                <a:t>Organizar cardápio, fotos, contato e localização.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38428" y="6432804"/>
            <a:ext cx="603504" cy="603504"/>
            <a:chOff x="0" y="0"/>
            <a:chExt cx="804672" cy="8046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B5241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38428" y="6432804"/>
            <a:ext cx="603504" cy="603504"/>
            <a:chOff x="0" y="0"/>
            <a:chExt cx="804672" cy="8046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988820" y="6405372"/>
            <a:ext cx="7680960" cy="685800"/>
            <a:chOff x="0" y="0"/>
            <a:chExt cx="1024128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41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0241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B2F3A"/>
                  </a:solidFill>
                  <a:latin typeface="Arial"/>
                  <a:ea typeface="Arial"/>
                  <a:cs typeface="Arial"/>
                  <a:sym typeface="Arial"/>
                </a:rPr>
                <a:t>Oferecer experiência responsiva e interativa.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8428" y="7475220"/>
            <a:ext cx="2674620" cy="1124712"/>
            <a:chOff x="0" y="0"/>
            <a:chExt cx="3566160" cy="14996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661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356616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3310128" y="0"/>
                  </a:lnTo>
                  <a:cubicBezTo>
                    <a:pt x="3451479" y="0"/>
                    <a:pt x="3566160" y="114681"/>
                    <a:pt x="3566160" y="256032"/>
                  </a:cubicBezTo>
                  <a:lnTo>
                    <a:pt x="3566160" y="1243584"/>
                  </a:lnTo>
                  <a:cubicBezTo>
                    <a:pt x="3566160" y="1384935"/>
                    <a:pt x="3451479" y="1499616"/>
                    <a:pt x="3310128" y="1499616"/>
                  </a:cubicBezTo>
                  <a:lnTo>
                    <a:pt x="256032" y="1499616"/>
                  </a:lnTo>
                  <a:cubicBezTo>
                    <a:pt x="114681" y="1499616"/>
                    <a:pt x="0" y="1384935"/>
                    <a:pt x="0" y="1243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12748" y="7543800"/>
            <a:ext cx="1234440" cy="1124712"/>
            <a:chOff x="0" y="0"/>
            <a:chExt cx="1645920" cy="14996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4592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898" t="0" r="-66898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645920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B524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441448" y="7543800"/>
            <a:ext cx="1303020" cy="1124712"/>
            <a:chOff x="0" y="0"/>
            <a:chExt cx="1737360" cy="14996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73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0746" t="0" r="-60746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737360" cy="151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B6373"/>
                  </a:solidFill>
                  <a:latin typeface="Arial"/>
                  <a:ea typeface="Arial"/>
                  <a:cs typeface="Arial"/>
                  <a:sym typeface="Arial"/>
                </a:rPr>
                <a:t>páginas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018788" y="7475220"/>
            <a:ext cx="2674620" cy="1124712"/>
            <a:chOff x="0" y="0"/>
            <a:chExt cx="3566160" cy="14996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661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356616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3310128" y="0"/>
                  </a:lnTo>
                  <a:cubicBezTo>
                    <a:pt x="3451479" y="0"/>
                    <a:pt x="3566160" y="114681"/>
                    <a:pt x="3566160" y="256032"/>
                  </a:cubicBezTo>
                  <a:lnTo>
                    <a:pt x="3566160" y="1243584"/>
                  </a:lnTo>
                  <a:cubicBezTo>
                    <a:pt x="3566160" y="1384935"/>
                    <a:pt x="3451479" y="1499616"/>
                    <a:pt x="3310128" y="1499616"/>
                  </a:cubicBezTo>
                  <a:lnTo>
                    <a:pt x="256032" y="1499616"/>
                  </a:lnTo>
                  <a:cubicBezTo>
                    <a:pt x="114681" y="1499616"/>
                    <a:pt x="0" y="1384935"/>
                    <a:pt x="0" y="1243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293108" y="7543800"/>
            <a:ext cx="1234440" cy="1124712"/>
            <a:chOff x="0" y="0"/>
            <a:chExt cx="1645920" cy="14996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4592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898" t="0" r="-66898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645920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B524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58968" y="7543800"/>
            <a:ext cx="1303020" cy="1124712"/>
            <a:chOff x="0" y="0"/>
            <a:chExt cx="1737360" cy="14996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373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0746" t="0" r="-60746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737360" cy="151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B6373"/>
                  </a:solidFill>
                  <a:latin typeface="Arial"/>
                  <a:ea typeface="Arial"/>
                  <a:cs typeface="Arial"/>
                  <a:sym typeface="Arial"/>
                </a:rPr>
                <a:t>produtos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99148" y="7475220"/>
            <a:ext cx="2674620" cy="1124712"/>
            <a:chOff x="0" y="0"/>
            <a:chExt cx="3566160" cy="14996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5661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356616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3310128" y="0"/>
                  </a:lnTo>
                  <a:cubicBezTo>
                    <a:pt x="3451479" y="0"/>
                    <a:pt x="3566160" y="114681"/>
                    <a:pt x="3566160" y="256032"/>
                  </a:cubicBezTo>
                  <a:lnTo>
                    <a:pt x="3566160" y="1243584"/>
                  </a:lnTo>
                  <a:cubicBezTo>
                    <a:pt x="3566160" y="1384935"/>
                    <a:pt x="3451479" y="1499616"/>
                    <a:pt x="3310128" y="1499616"/>
                  </a:cubicBezTo>
                  <a:lnTo>
                    <a:pt x="256032" y="1499616"/>
                  </a:lnTo>
                  <a:cubicBezTo>
                    <a:pt x="114681" y="1499616"/>
                    <a:pt x="0" y="1384935"/>
                    <a:pt x="0" y="1243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173468" y="7543800"/>
            <a:ext cx="1234440" cy="1124712"/>
            <a:chOff x="0" y="0"/>
            <a:chExt cx="1645920" cy="14996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4592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898" t="0" r="-66898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645920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B524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16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339328" y="7543800"/>
            <a:ext cx="1303020" cy="1124712"/>
            <a:chOff x="0" y="0"/>
            <a:chExt cx="1737360" cy="14996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373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0746" t="0" r="-60746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1737360" cy="151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B6373"/>
                  </a:solidFill>
                  <a:latin typeface="Arial"/>
                  <a:ea typeface="Arial"/>
                  <a:cs typeface="Arial"/>
                  <a:sym typeface="Arial"/>
                </a:rPr>
                <a:t>fotos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561320" y="7708392"/>
            <a:ext cx="5692140" cy="548640"/>
            <a:chOff x="0" y="0"/>
            <a:chExt cx="758952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58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589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7223760" y="0"/>
                  </a:lnTo>
                  <a:cubicBezTo>
                    <a:pt x="7425817" y="0"/>
                    <a:pt x="7589520" y="163703"/>
                    <a:pt x="7589520" y="365760"/>
                  </a:cubicBezTo>
                  <a:cubicBezTo>
                    <a:pt x="7589520" y="567817"/>
                    <a:pt x="7425817" y="731520"/>
                    <a:pt x="7223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7589520" cy="75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Rua Oswaldo Cruz, 408  ·  Vila Progresso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38428" y="8846820"/>
            <a:ext cx="8435340" cy="411480"/>
            <a:chOff x="0" y="0"/>
            <a:chExt cx="1124712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47120" cy="548640"/>
            </a:xfrm>
            <a:custGeom>
              <a:avLst/>
              <a:gdLst/>
              <a:ahLst/>
              <a:cxnLst/>
              <a:rect r="r" b="b" t="t" l="l"/>
              <a:pathLst>
                <a:path h="548640" w="11247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0972800" y="0"/>
                  </a:lnTo>
                  <a:cubicBezTo>
                    <a:pt x="11124311" y="0"/>
                    <a:pt x="11247120" y="122809"/>
                    <a:pt x="11247120" y="274320"/>
                  </a:cubicBezTo>
                  <a:cubicBezTo>
                    <a:pt x="11247120" y="425831"/>
                    <a:pt x="11124311" y="548640"/>
                    <a:pt x="10972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FF1BF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11247120" cy="567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 spc="60">
                  <a:solidFill>
                    <a:srgbClr val="6B4E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CHECKOUT DEMONSTRATIVO  ·  SEM PEDIDOS OU PAGAMENTOS REAIS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9796925" y="3423581"/>
            <a:ext cx="7220929" cy="3933613"/>
          </a:xfrm>
          <a:custGeom>
            <a:avLst/>
            <a:gdLst/>
            <a:ahLst/>
            <a:cxnLst/>
            <a:rect r="r" b="b" t="t" l="l"/>
            <a:pathLst>
              <a:path h="3933613" w="7220929">
                <a:moveTo>
                  <a:pt x="0" y="0"/>
                </a:moveTo>
                <a:lnTo>
                  <a:pt x="7220930" y="0"/>
                </a:lnTo>
                <a:lnTo>
                  <a:pt x="7220930" y="3933614"/>
                </a:lnTo>
                <a:lnTo>
                  <a:pt x="0" y="3933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2610" r="0" b="-15066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1138428" y="1942338"/>
            <a:ext cx="1426464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Uma presença digital própria para apresentar a Pastelaria da Sogra em Sorocaba.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704820" y="529590"/>
            <a:ext cx="130302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14447A"/>
                </a:solidFill>
                <a:latin typeface="Arial Bold"/>
                <a:ea typeface="Arial Bold"/>
                <a:cs typeface="Arial Bold"/>
                <a:sym typeface="Arial Bold"/>
              </a:rPr>
              <a:t>02/12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38428" y="9358503"/>
            <a:ext cx="12344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B7380"/>
                </a:solidFill>
                <a:latin typeface="Arial"/>
                <a:ea typeface="Arial"/>
                <a:cs typeface="Arial"/>
                <a:sym typeface="Arial"/>
              </a:rPr>
              <a:t>PASTELARIA DA SOGRA  ·  WEB DESIGN  ·  AC2 2026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38428" y="2724150"/>
            <a:ext cx="85039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B5241C"/>
                </a:solidFill>
                <a:latin typeface="Arial Bold"/>
                <a:ea typeface="Arial Bold"/>
                <a:cs typeface="Arial Bold"/>
                <a:sym typeface="Arial Bold"/>
              </a:rPr>
              <a:t>O DESAFIO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38428" y="3191637"/>
            <a:ext cx="8641080" cy="149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9"/>
              </a:lnSpc>
            </a:pPr>
            <a:r>
              <a:rPr lang="en-US" sz="435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Reunir informações e facilitar a navegação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88813" y="8893950"/>
            <a:ext cx="1728187" cy="1326118"/>
            <a:chOff x="0" y="0"/>
            <a:chExt cx="2304250" cy="1768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4288" cy="1768094"/>
            </a:xfrm>
            <a:custGeom>
              <a:avLst/>
              <a:gdLst/>
              <a:ahLst/>
              <a:cxnLst/>
              <a:rect r="r" b="b" t="t" l="l"/>
              <a:pathLst>
                <a:path h="1768094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1768094"/>
                  </a:lnTo>
                  <a:lnTo>
                    <a:pt x="0" y="1768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26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67360" y="-1234440"/>
            <a:ext cx="4937760" cy="4937760"/>
            <a:chOff x="0" y="0"/>
            <a:chExt cx="6583680" cy="6583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  <a:moveTo>
                    <a:pt x="559562" y="3291840"/>
                  </a:moveTo>
                  <a:cubicBezTo>
                    <a:pt x="559562" y="4800854"/>
                    <a:pt x="1782826" y="6024118"/>
                    <a:pt x="3291840" y="6024118"/>
                  </a:cubicBezTo>
                  <a:cubicBezTo>
                    <a:pt x="4800854" y="6024118"/>
                    <a:pt x="6024118" y="4800854"/>
                    <a:pt x="6024118" y="3291840"/>
                  </a:cubicBezTo>
                  <a:cubicBezTo>
                    <a:pt x="6024118" y="1782826"/>
                    <a:pt x="4800854" y="559562"/>
                    <a:pt x="3291840" y="559562"/>
                  </a:cubicBezTo>
                  <a:cubicBezTo>
                    <a:pt x="1782826" y="559562"/>
                    <a:pt x="559562" y="1782826"/>
                    <a:pt x="559562" y="3291840"/>
                  </a:cubicBezTo>
                  <a:close/>
                </a:path>
              </a:pathLst>
            </a:custGeom>
            <a:solidFill>
              <a:srgbClr val="00A3E0">
                <a:alpha val="2353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3520" y="1645920"/>
            <a:ext cx="274320" cy="274320"/>
            <a:chOff x="0" y="0"/>
            <a:chExt cx="365760" cy="365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8428" y="103632"/>
            <a:ext cx="3497580" cy="411480"/>
            <a:chOff x="0" y="0"/>
            <a:chExt cx="466344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3440" cy="548640"/>
            </a:xfrm>
            <a:custGeom>
              <a:avLst/>
              <a:gdLst/>
              <a:ahLst/>
              <a:cxnLst/>
              <a:rect r="r" b="b" t="t" l="l"/>
              <a:pathLst>
                <a:path h="548640" w="46634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389120" y="0"/>
                  </a:lnTo>
                  <a:cubicBezTo>
                    <a:pt x="4540631" y="0"/>
                    <a:pt x="4663440" y="122809"/>
                    <a:pt x="4663440" y="274320"/>
                  </a:cubicBezTo>
                  <a:cubicBezTo>
                    <a:pt x="4663440" y="425831"/>
                    <a:pt x="4540631" y="548640"/>
                    <a:pt x="438912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CEFF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663440" cy="55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80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  ·  REFERÊNCIAS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8428" y="597408"/>
            <a:ext cx="14127480" cy="987552"/>
            <a:chOff x="0" y="0"/>
            <a:chExt cx="1883664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366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744" r="0" b="-2287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836640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Benchmarking: referências e decisões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556248" y="2889504"/>
            <a:ext cx="5120640" cy="2276856"/>
          </a:xfrm>
          <a:custGeom>
            <a:avLst/>
            <a:gdLst/>
            <a:ahLst/>
            <a:cxnLst/>
            <a:rect r="r" b="b" t="t" l="l"/>
            <a:pathLst>
              <a:path h="2576185" w="5898352">
                <a:moveTo>
                  <a:pt x="0" y="0"/>
                </a:moveTo>
                <a:lnTo>
                  <a:pt x="5898352" y="0"/>
                </a:lnTo>
                <a:lnTo>
                  <a:pt x="5898352" y="2576185"/>
                </a:lnTo>
                <a:lnTo>
                  <a:pt x="0" y="257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43000" y="2889504"/>
            <a:ext cx="5120640" cy="2286000"/>
          </a:xfrm>
          <a:custGeom>
            <a:avLst/>
            <a:gdLst/>
            <a:ahLst/>
            <a:cxnLst/>
            <a:rect r="r" b="b" t="t" l="l"/>
            <a:pathLst>
              <a:path h="2482501" w="5309563">
                <a:moveTo>
                  <a:pt x="0" y="0"/>
                </a:moveTo>
                <a:lnTo>
                  <a:pt x="5309562" y="0"/>
                </a:lnTo>
                <a:lnTo>
                  <a:pt x="5309562" y="2482501"/>
                </a:lnTo>
                <a:lnTo>
                  <a:pt x="0" y="24825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978640" y="2852928"/>
            <a:ext cx="5120640" cy="2395728"/>
          </a:xfrm>
          <a:custGeom>
            <a:avLst/>
            <a:gdLst/>
            <a:ahLst/>
            <a:cxnLst/>
            <a:rect r="r" b="b" t="t" l="l"/>
            <a:pathLst>
              <a:path h="2672269" w="5726933">
                <a:moveTo>
                  <a:pt x="0" y="0"/>
                </a:moveTo>
                <a:lnTo>
                  <a:pt x="5726932" y="0"/>
                </a:lnTo>
                <a:lnTo>
                  <a:pt x="5726932" y="2672269"/>
                </a:lnTo>
                <a:lnTo>
                  <a:pt x="0" y="2672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38428" y="1552194"/>
            <a:ext cx="1426464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Observamos soluções existentes para orientar decisões, sem copiar suas interfaces.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704820" y="529590"/>
            <a:ext cx="130302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14447A"/>
                </a:solidFill>
                <a:latin typeface="Arial Bold"/>
                <a:ea typeface="Arial Bold"/>
                <a:cs typeface="Arial Bold"/>
                <a:sym typeface="Arial Bold"/>
              </a:rPr>
              <a:t>03/12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8428" y="9702165"/>
            <a:ext cx="12344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B7380"/>
                </a:solidFill>
                <a:latin typeface="Arial"/>
                <a:ea typeface="Arial"/>
                <a:cs typeface="Arial"/>
                <a:sym typeface="Arial"/>
              </a:rPr>
              <a:t>PASTELARIA DA SOGRA  ·  WEB DESIGN  ·  AC2 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8428" y="5980176"/>
            <a:ext cx="5143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b="1" sz="1500" spc="180">
                <a:solidFill>
                  <a:srgbClr val="4F5C73"/>
                </a:solidFill>
                <a:latin typeface="Arial Bold"/>
                <a:ea typeface="Arial Bold"/>
                <a:cs typeface="Arial Bold"/>
                <a:sym typeface="Arial Bold"/>
              </a:rPr>
              <a:t>O QUE OBSERVAMOS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8428" y="6355080"/>
            <a:ext cx="5143500" cy="53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50" b="1">
                <a:solidFill>
                  <a:srgbClr val="283352"/>
                </a:solidFill>
                <a:latin typeface="Arial Bold"/>
                <a:ea typeface="Arial Bold"/>
                <a:cs typeface="Arial Bold"/>
                <a:sym typeface="Arial Bold"/>
              </a:rPr>
              <a:t>Categorias bem localizadas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8428" y="7104888"/>
            <a:ext cx="5143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b="1" sz="1500" spc="180">
                <a:solidFill>
                  <a:srgbClr val="007FB2"/>
                </a:solidFill>
                <a:latin typeface="Arial Bold"/>
                <a:ea typeface="Arial Bold"/>
                <a:cs typeface="Arial Bold"/>
                <a:sym typeface="Arial Bold"/>
              </a:rPr>
              <a:t>COMO APLICAMOS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8428" y="7498079"/>
            <a:ext cx="51435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700">
                <a:solidFill>
                  <a:srgbClr val="283352"/>
                </a:solidFill>
              </a:rPr>
              <a:t>Filtros por categoria no cardápio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56248" y="5980176"/>
            <a:ext cx="5143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b="1" sz="1500" spc="180">
                <a:solidFill>
                  <a:srgbClr val="4F5C73"/>
                </a:solidFill>
                <a:latin typeface="Arial Bold"/>
                <a:ea typeface="Arial Bold"/>
                <a:cs typeface="Arial Bold"/>
                <a:sym typeface="Arial Bold"/>
              </a:rPr>
              <a:t>O QUE OBSERVAMOS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56248" y="6355080"/>
            <a:ext cx="5143500" cy="53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50" b="1">
                <a:solidFill>
                  <a:srgbClr val="283352"/>
                </a:solidFill>
                <a:latin typeface="Arial Bold"/>
                <a:ea typeface="Arial Bold"/>
                <a:cs typeface="Arial Bold"/>
                <a:sym typeface="Arial Bold"/>
              </a:rPr>
              <a:t>Hierarquia de informação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56248" y="7104888"/>
            <a:ext cx="5143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b="1" sz="1500" spc="180">
                <a:solidFill>
                  <a:srgbClr val="007FB2"/>
                </a:solidFill>
                <a:latin typeface="Arial Bold"/>
                <a:ea typeface="Arial Bold"/>
                <a:cs typeface="Arial Bold"/>
                <a:sym typeface="Arial Bold"/>
              </a:rPr>
              <a:t>COMO APLICAMOS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56248" y="7498079"/>
            <a:ext cx="51435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700">
                <a:solidFill>
                  <a:srgbClr val="283352"/>
                </a:solidFill>
              </a:rPr>
              <a:t>Destaques e seções organizadas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74068" y="5980176"/>
            <a:ext cx="5143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b="1" sz="1500" spc="180">
                <a:solidFill>
                  <a:srgbClr val="4F5C73"/>
                </a:solidFill>
                <a:latin typeface="Arial Bold"/>
                <a:ea typeface="Arial Bold"/>
                <a:cs typeface="Arial Bold"/>
                <a:sym typeface="Arial Bold"/>
              </a:rPr>
              <a:t>O QUE OBSERVAMOS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74068" y="6355080"/>
            <a:ext cx="5143500" cy="53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50" b="1">
                <a:solidFill>
                  <a:srgbClr val="283352"/>
                </a:solidFill>
                <a:latin typeface="Arial Bold"/>
                <a:ea typeface="Arial Bold"/>
                <a:cs typeface="Arial Bold"/>
                <a:sym typeface="Arial Bold"/>
              </a:rPr>
              <a:t>Fluxo de escolha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74068" y="7104888"/>
            <a:ext cx="5143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b="1" sz="1500" spc="180">
                <a:solidFill>
                  <a:srgbClr val="007FB2"/>
                </a:solidFill>
                <a:latin typeface="Arial Bold"/>
                <a:ea typeface="Arial Bold"/>
                <a:cs typeface="Arial Bold"/>
                <a:sym typeface="Arial Bold"/>
              </a:rPr>
              <a:t>COMO APLICAMOS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74068" y="7498079"/>
            <a:ext cx="51435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700">
                <a:solidFill>
                  <a:srgbClr val="283352"/>
                </a:solidFill>
              </a:rPr>
              <a:t>Cards com preço e botão Adicionar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2459736"/>
            <a:ext cx="512064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386E"/>
                </a:solidFill>
                <a:latin typeface="Aptos"/>
              </a:rPr>
              <a:t>HABIB’S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2459736"/>
            <a:ext cx="512064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386E"/>
                </a:solidFill>
                <a:latin typeface="Aptos"/>
              </a:rPr>
              <a:t>MADERO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78640" y="2459736"/>
            <a:ext cx="512064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386E"/>
                </a:solidFill>
                <a:latin typeface="Aptos"/>
              </a:rPr>
              <a:t>IFOOD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8622792"/>
            <a:ext cx="15069312" cy="658368"/>
          </a:xfrm>
          <a:prstGeom prst="roundRect">
            <a:avLst>
              <a:gd name="adj" fmla="val 25000"/>
            </a:avLst>
          </a:prstGeom>
          <a:solidFill>
            <a:srgbClr val="1C4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64008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RESULTADO  ·  Cardápio mais claro, navegação ágil e chamadas para ação consistentes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88813" y="8893950"/>
            <a:ext cx="1728187" cy="1326118"/>
            <a:chOff x="0" y="0"/>
            <a:chExt cx="2304250" cy="1768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4288" cy="1768094"/>
            </a:xfrm>
            <a:custGeom>
              <a:avLst/>
              <a:gdLst/>
              <a:ahLst/>
              <a:cxnLst/>
              <a:rect r="r" b="b" t="t" l="l"/>
              <a:pathLst>
                <a:path h="1768094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1768094"/>
                  </a:lnTo>
                  <a:lnTo>
                    <a:pt x="0" y="1768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26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578840" y="5897880"/>
            <a:ext cx="5212080" cy="5212080"/>
            <a:chOff x="0" y="0"/>
            <a:chExt cx="6949440" cy="6949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49440" cy="6949440"/>
            </a:xfrm>
            <a:custGeom>
              <a:avLst/>
              <a:gdLst/>
              <a:ahLst/>
              <a:cxnLst/>
              <a:rect r="r" b="b" t="t" l="l"/>
              <a:pathLst>
                <a:path h="6949440" w="6949440">
                  <a:moveTo>
                    <a:pt x="0" y="3474720"/>
                  </a:moveTo>
                  <a:cubicBezTo>
                    <a:pt x="0" y="1555623"/>
                    <a:pt x="1555623" y="0"/>
                    <a:pt x="3474720" y="0"/>
                  </a:cubicBezTo>
                  <a:cubicBezTo>
                    <a:pt x="5393817" y="0"/>
                    <a:pt x="6949440" y="1555623"/>
                    <a:pt x="6949440" y="3474720"/>
                  </a:cubicBezTo>
                  <a:cubicBezTo>
                    <a:pt x="6949440" y="5393817"/>
                    <a:pt x="5393817" y="6949440"/>
                    <a:pt x="3474720" y="6949440"/>
                  </a:cubicBezTo>
                  <a:cubicBezTo>
                    <a:pt x="1555623" y="6949440"/>
                    <a:pt x="0" y="5393817"/>
                    <a:pt x="0" y="3474720"/>
                  </a:cubicBezTo>
                  <a:close/>
                  <a:moveTo>
                    <a:pt x="590677" y="3474720"/>
                  </a:moveTo>
                  <a:cubicBezTo>
                    <a:pt x="590677" y="5067554"/>
                    <a:pt x="1881886" y="6358763"/>
                    <a:pt x="3474720" y="6358763"/>
                  </a:cubicBezTo>
                  <a:cubicBezTo>
                    <a:pt x="5067554" y="6358763"/>
                    <a:pt x="6358763" y="5067554"/>
                    <a:pt x="6358763" y="3474720"/>
                  </a:cubicBezTo>
                  <a:cubicBezTo>
                    <a:pt x="6358763" y="1881886"/>
                    <a:pt x="5067554" y="590677"/>
                    <a:pt x="3474720" y="590677"/>
                  </a:cubicBezTo>
                  <a:cubicBezTo>
                    <a:pt x="1881886" y="590677"/>
                    <a:pt x="590677" y="1881886"/>
                    <a:pt x="590677" y="3474720"/>
                  </a:cubicBezTo>
                  <a:close/>
                </a:path>
              </a:pathLst>
            </a:custGeom>
            <a:solidFill>
              <a:srgbClr val="00A3E0">
                <a:alpha val="2353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8428" y="318897"/>
            <a:ext cx="3497580" cy="411480"/>
            <a:chOff x="0" y="0"/>
            <a:chExt cx="466344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63440" cy="548640"/>
            </a:xfrm>
            <a:custGeom>
              <a:avLst/>
              <a:gdLst/>
              <a:ahLst/>
              <a:cxnLst/>
              <a:rect r="r" b="b" t="t" l="l"/>
              <a:pathLst>
                <a:path h="548640" w="46634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389120" y="0"/>
                  </a:lnTo>
                  <a:cubicBezTo>
                    <a:pt x="4540631" y="0"/>
                    <a:pt x="4663440" y="122809"/>
                    <a:pt x="4663440" y="274320"/>
                  </a:cubicBezTo>
                  <a:cubicBezTo>
                    <a:pt x="4663440" y="425831"/>
                    <a:pt x="4540631" y="548640"/>
                    <a:pt x="438912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CEF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663440" cy="55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80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  ·  DESIGN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8428" y="651891"/>
            <a:ext cx="14127480" cy="987552"/>
            <a:chOff x="0" y="0"/>
            <a:chExt cx="18836640" cy="1316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8366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744" r="0" b="-2287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836640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Prototipação: evolução V1 → V3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7646" y="2564892"/>
            <a:ext cx="17553220" cy="3555111"/>
            <a:chOff x="0" y="0"/>
            <a:chExt cx="4623070" cy="9363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23071" cy="936326"/>
            </a:xfrm>
            <a:custGeom>
              <a:avLst/>
              <a:gdLst/>
              <a:ahLst/>
              <a:cxnLst/>
              <a:rect r="r" b="b" t="t" l="l"/>
              <a:pathLst>
                <a:path h="936326" w="4623071">
                  <a:moveTo>
                    <a:pt x="5293" y="0"/>
                  </a:moveTo>
                  <a:lnTo>
                    <a:pt x="4617778" y="0"/>
                  </a:lnTo>
                  <a:cubicBezTo>
                    <a:pt x="4620701" y="0"/>
                    <a:pt x="4623071" y="2370"/>
                    <a:pt x="4623071" y="5293"/>
                  </a:cubicBezTo>
                  <a:lnTo>
                    <a:pt x="4623071" y="931033"/>
                  </a:lnTo>
                  <a:cubicBezTo>
                    <a:pt x="4623071" y="933956"/>
                    <a:pt x="4620701" y="936326"/>
                    <a:pt x="4617778" y="936326"/>
                  </a:cubicBezTo>
                  <a:lnTo>
                    <a:pt x="5293" y="936326"/>
                  </a:lnTo>
                  <a:cubicBezTo>
                    <a:pt x="2370" y="936326"/>
                    <a:pt x="0" y="933956"/>
                    <a:pt x="0" y="931033"/>
                  </a:cubicBezTo>
                  <a:lnTo>
                    <a:pt x="0" y="5293"/>
                  </a:lnTo>
                  <a:cubicBezTo>
                    <a:pt x="0" y="2370"/>
                    <a:pt x="2370" y="0"/>
                    <a:pt x="5293" y="0"/>
                  </a:cubicBezTo>
                  <a:close/>
                </a:path>
              </a:pathLst>
            </a:custGeom>
            <a:solidFill>
              <a:srgbClr val="A6A6A6">
                <a:alpha val="82745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623070" cy="955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33956" y="2115884"/>
            <a:ext cx="3360420" cy="411480"/>
            <a:chOff x="0" y="0"/>
            <a:chExt cx="448056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8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056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206240" y="0"/>
                  </a:lnTo>
                  <a:cubicBezTo>
                    <a:pt x="4357751" y="0"/>
                    <a:pt x="4480560" y="122809"/>
                    <a:pt x="4480560" y="274320"/>
                  </a:cubicBezTo>
                  <a:cubicBezTo>
                    <a:pt x="4480560" y="425831"/>
                    <a:pt x="4357751" y="548640"/>
                    <a:pt x="420624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5B637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480560" cy="567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 spc="12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V1  ·  PROPOSTA INICIAL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28551" y="4114800"/>
            <a:ext cx="548640" cy="548640"/>
            <a:chOff x="0" y="0"/>
            <a:chExt cx="7315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928551" y="4080510"/>
            <a:ext cx="548640" cy="548640"/>
            <a:chOff x="0" y="0"/>
            <a:chExt cx="73152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44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10628" y="2115884"/>
            <a:ext cx="3360420" cy="411480"/>
            <a:chOff x="0" y="0"/>
            <a:chExt cx="448056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8056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056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206240" y="0"/>
                  </a:lnTo>
                  <a:cubicBezTo>
                    <a:pt x="4357751" y="0"/>
                    <a:pt x="4480560" y="122809"/>
                    <a:pt x="4480560" y="274320"/>
                  </a:cubicBezTo>
                  <a:cubicBezTo>
                    <a:pt x="4480560" y="425831"/>
                    <a:pt x="4357751" y="548640"/>
                    <a:pt x="420624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078A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480560" cy="567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 spc="12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V2  ·  REFINAMENTO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785473" y="4114800"/>
            <a:ext cx="548640" cy="548640"/>
            <a:chOff x="0" y="0"/>
            <a:chExt cx="73152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785473" y="4105275"/>
            <a:ext cx="548640" cy="548640"/>
            <a:chOff x="0" y="0"/>
            <a:chExt cx="73152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44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482828" y="2115884"/>
            <a:ext cx="2468880" cy="411480"/>
            <a:chOff x="0" y="0"/>
            <a:chExt cx="329184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1840" cy="548640"/>
            </a:xfrm>
            <a:custGeom>
              <a:avLst/>
              <a:gdLst/>
              <a:ahLst/>
              <a:cxnLst/>
              <a:rect r="r" b="b" t="t" l="l"/>
              <a:pathLst>
                <a:path h="548640" w="32918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017520" y="0"/>
                  </a:lnTo>
                  <a:cubicBezTo>
                    <a:pt x="3169031" y="0"/>
                    <a:pt x="3291840" y="122809"/>
                    <a:pt x="3291840" y="274320"/>
                  </a:cubicBezTo>
                  <a:cubicBezTo>
                    <a:pt x="3291840" y="425831"/>
                    <a:pt x="3169031" y="548640"/>
                    <a:pt x="301752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1E9E5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291840" cy="567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 spc="12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V3  ·  APROVADA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38428" y="7653528"/>
            <a:ext cx="850392" cy="850392"/>
            <a:chOff x="0" y="0"/>
            <a:chExt cx="1133856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B5241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224528" y="7653528"/>
            <a:ext cx="850392" cy="850392"/>
            <a:chOff x="0" y="0"/>
            <a:chExt cx="1133856" cy="1133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301103" y="7644003"/>
            <a:ext cx="869442" cy="869442"/>
            <a:chOff x="0" y="0"/>
            <a:chExt cx="1159256" cy="11592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7E8"/>
            </a:solidFill>
            <a:ln w="19050" cap="sq">
              <a:solidFill>
                <a:srgbClr val="D5DCE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835640" y="7406640"/>
            <a:ext cx="6172200" cy="1303020"/>
            <a:chOff x="0" y="0"/>
            <a:chExt cx="8229600" cy="1737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296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82296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7936992" y="0"/>
                  </a:lnTo>
                  <a:cubicBezTo>
                    <a:pt x="8098536" y="0"/>
                    <a:pt x="8229600" y="131064"/>
                    <a:pt x="8229600" y="292608"/>
                  </a:cubicBezTo>
                  <a:lnTo>
                    <a:pt x="8229600" y="1444752"/>
                  </a:lnTo>
                  <a:cubicBezTo>
                    <a:pt x="8229600" y="1606296"/>
                    <a:pt x="8098536" y="1737360"/>
                    <a:pt x="7936992" y="1737360"/>
                  </a:cubicBezTo>
                  <a:lnTo>
                    <a:pt x="292608" y="1737360"/>
                  </a:lnTo>
                  <a:cubicBezTo>
                    <a:pt x="131064" y="1737360"/>
                    <a:pt x="0" y="1606296"/>
                    <a:pt x="0" y="1444752"/>
                  </a:cubicBezTo>
                  <a:close/>
                </a:path>
              </a:pathLst>
            </a:custGeom>
            <a:solidFill>
              <a:srgbClr val="EAF0F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137392" y="7406640"/>
            <a:ext cx="5623560" cy="1303020"/>
            <a:chOff x="0" y="0"/>
            <a:chExt cx="7498080" cy="1737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98078" cy="1737360"/>
            </a:xfrm>
            <a:custGeom>
              <a:avLst/>
              <a:gdLst/>
              <a:ahLst/>
              <a:cxnLst/>
              <a:rect r="r" b="b" t="t" l="l"/>
              <a:pathLst>
                <a:path h="1737360" w="7498078">
                  <a:moveTo>
                    <a:pt x="0" y="0"/>
                  </a:moveTo>
                  <a:lnTo>
                    <a:pt x="7498078" y="0"/>
                  </a:lnTo>
                  <a:lnTo>
                    <a:pt x="749807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093" r="0" b="-3409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749808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B524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Critério:  </a:t>
              </a:r>
              <a:r>
                <a:rPr lang="en-US" sz="2025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consistência entre as seis páginas e adaptação a telas menores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507030" y="2925296"/>
            <a:ext cx="5282137" cy="2972584"/>
          </a:xfrm>
          <a:custGeom>
            <a:avLst/>
            <a:gdLst/>
            <a:ahLst/>
            <a:cxnLst/>
            <a:rect r="r" b="b" t="t" l="l"/>
            <a:pathLst>
              <a:path h="2972584" w="5282137">
                <a:moveTo>
                  <a:pt x="0" y="0"/>
                </a:moveTo>
                <a:lnTo>
                  <a:pt x="5282137" y="0"/>
                </a:lnTo>
                <a:lnTo>
                  <a:pt x="5282137" y="2972584"/>
                </a:lnTo>
                <a:lnTo>
                  <a:pt x="0" y="29725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6620066" y="2921859"/>
            <a:ext cx="4932696" cy="2976021"/>
          </a:xfrm>
          <a:custGeom>
            <a:avLst/>
            <a:gdLst/>
            <a:ahLst/>
            <a:cxnLst/>
            <a:rect r="r" b="b" t="t" l="l"/>
            <a:pathLst>
              <a:path h="2976021" w="4932696">
                <a:moveTo>
                  <a:pt x="0" y="0"/>
                </a:moveTo>
                <a:lnTo>
                  <a:pt x="4932695" y="0"/>
                </a:lnTo>
                <a:lnTo>
                  <a:pt x="4932695" y="2976021"/>
                </a:lnTo>
                <a:lnTo>
                  <a:pt x="0" y="29760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490323" y="2925296"/>
            <a:ext cx="5231718" cy="2985157"/>
          </a:xfrm>
          <a:custGeom>
            <a:avLst/>
            <a:gdLst/>
            <a:ahLst/>
            <a:cxnLst/>
            <a:rect r="r" b="b" t="t" l="l"/>
            <a:pathLst>
              <a:path h="2985157" w="5231718">
                <a:moveTo>
                  <a:pt x="0" y="0"/>
                </a:moveTo>
                <a:lnTo>
                  <a:pt x="5231718" y="0"/>
                </a:lnTo>
                <a:lnTo>
                  <a:pt x="5231718" y="2985157"/>
                </a:lnTo>
                <a:lnTo>
                  <a:pt x="0" y="29851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138428" y="1606677"/>
            <a:ext cx="916228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O site foi refinado visualmente antes de consolidar a interface final.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704820" y="529590"/>
            <a:ext cx="130302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14447A"/>
                </a:solidFill>
                <a:latin typeface="Arial Bold"/>
                <a:ea typeface="Arial Bold"/>
                <a:cs typeface="Arial Bold"/>
                <a:sym typeface="Arial Bold"/>
              </a:rPr>
              <a:t>04/12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38428" y="9358503"/>
            <a:ext cx="12344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B7380"/>
                </a:solidFill>
                <a:latin typeface="Arial"/>
                <a:ea typeface="Arial"/>
                <a:cs typeface="Arial"/>
                <a:sym typeface="Arial"/>
              </a:rPr>
              <a:t>PASTELARIA DA SOGRA  ·  WEB DESIGN  ·  AC2 2026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38428" y="6272403"/>
            <a:ext cx="5143500" cy="7639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1500">
                <a:solidFill>
                  <a:srgbClr val="233354"/>
                </a:solidFill>
                <a:latin typeface="Aptos"/>
              </a:rPr>
              <a:t>V1 · Estrutura inicial e organização da Home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556248" y="6272403"/>
            <a:ext cx="5143500" cy="7639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1500">
                <a:solidFill>
                  <a:srgbClr val="233354"/>
                </a:solidFill>
                <a:latin typeface="Aptos"/>
              </a:rPr>
              <a:t>V2 · Ajustes de hierarquia, espaços e imagens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974068" y="6272403"/>
            <a:ext cx="5143500" cy="7639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1500">
                <a:solidFill>
                  <a:srgbClr val="233354"/>
                </a:solidFill>
                <a:latin typeface="Aptos"/>
              </a:rPr>
              <a:t>V3 · Padrão visual consolidado no projeto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38428" y="7181850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b="true" sz="1425" spc="180">
                <a:solidFill>
                  <a:srgbClr val="0078A8"/>
                </a:solidFill>
                <a:latin typeface="Arial Bold"/>
                <a:ea typeface="Arial Bold"/>
                <a:cs typeface="Arial Bold"/>
                <a:sym typeface="Arial Bold"/>
              </a:rPr>
              <a:t>IDENTIDADE FINAL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208276" y="7698867"/>
            <a:ext cx="19202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Vermelho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208276" y="8100822"/>
            <a:ext cx="192024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#B5241C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94376" y="7698867"/>
            <a:ext cx="19202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Amarelo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294376" y="8100822"/>
            <a:ext cx="192024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#F4B41A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380476" y="7698867"/>
            <a:ext cx="19202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Creme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380476" y="8100822"/>
            <a:ext cx="192024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#FFF7E8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" y="5404104"/>
            <a:ext cx="3611880" cy="365760"/>
          </a:xfrm>
          <a:prstGeom prst="roundRect">
            <a:avLst>
              <a:gd name="adj" fmla="val 18000"/>
            </a:avLst>
          </a:prstGeom>
          <a:solidFill>
            <a:srgbClr val="193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ESTRUTURA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22592" y="5404104"/>
            <a:ext cx="3611880" cy="365760"/>
          </a:xfrm>
          <a:prstGeom prst="roundRect">
            <a:avLst>
              <a:gd name="adj" fmla="val 18000"/>
            </a:avLst>
          </a:prstGeom>
          <a:solidFill>
            <a:srgbClr val="193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REFINAMENTO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938760" y="5404104"/>
            <a:ext cx="3611880" cy="365760"/>
          </a:xfrm>
          <a:prstGeom prst="roundRect">
            <a:avLst>
              <a:gd name="adj" fmla="val 18000"/>
            </a:avLst>
          </a:prstGeom>
          <a:solidFill>
            <a:srgbClr val="193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CONSOLIDAÇÃO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88813" y="8893950"/>
            <a:ext cx="1728187" cy="1326118"/>
            <a:chOff x="0" y="0"/>
            <a:chExt cx="2304250" cy="1768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4288" cy="1768094"/>
            </a:xfrm>
            <a:custGeom>
              <a:avLst/>
              <a:gdLst/>
              <a:ahLst/>
              <a:cxnLst/>
              <a:rect r="r" b="b" t="t" l="l"/>
              <a:pathLst>
                <a:path h="1768094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1768094"/>
                  </a:lnTo>
                  <a:lnTo>
                    <a:pt x="0" y="1768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26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990320" y="-1645920"/>
            <a:ext cx="5486400" cy="5486400"/>
            <a:chOff x="0" y="0"/>
            <a:chExt cx="7315200" cy="731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  <a:moveTo>
                    <a:pt x="621792" y="3657600"/>
                  </a:moveTo>
                  <a:cubicBezTo>
                    <a:pt x="621792" y="5334254"/>
                    <a:pt x="1980946" y="6693408"/>
                    <a:pt x="3657600" y="6693408"/>
                  </a:cubicBezTo>
                  <a:cubicBezTo>
                    <a:pt x="5334254" y="6693408"/>
                    <a:pt x="6693408" y="5334254"/>
                    <a:pt x="6693408" y="3657600"/>
                  </a:cubicBezTo>
                  <a:cubicBezTo>
                    <a:pt x="6693408" y="1980946"/>
                    <a:pt x="5334254" y="621792"/>
                    <a:pt x="3657600" y="621792"/>
                  </a:cubicBezTo>
                  <a:cubicBezTo>
                    <a:pt x="1980946" y="621792"/>
                    <a:pt x="621792" y="1980946"/>
                    <a:pt x="621792" y="3657600"/>
                  </a:cubicBezTo>
                  <a:close/>
                </a:path>
              </a:pathLst>
            </a:custGeom>
            <a:solidFill>
              <a:srgbClr val="00A3E0">
                <a:alpha val="2353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3520" y="2194560"/>
            <a:ext cx="274320" cy="274320"/>
            <a:chOff x="0" y="0"/>
            <a:chExt cx="365760" cy="365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8428" y="493776"/>
            <a:ext cx="3497580" cy="411480"/>
            <a:chOff x="0" y="0"/>
            <a:chExt cx="466344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3440" cy="548640"/>
            </a:xfrm>
            <a:custGeom>
              <a:avLst/>
              <a:gdLst/>
              <a:ahLst/>
              <a:cxnLst/>
              <a:rect r="r" b="b" t="t" l="l"/>
              <a:pathLst>
                <a:path h="548640" w="46634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389120" y="0"/>
                  </a:lnTo>
                  <a:cubicBezTo>
                    <a:pt x="4540631" y="0"/>
                    <a:pt x="4663440" y="122809"/>
                    <a:pt x="4663440" y="274320"/>
                  </a:cubicBezTo>
                  <a:cubicBezTo>
                    <a:pt x="4663440" y="425831"/>
                    <a:pt x="4540631" y="548640"/>
                    <a:pt x="438912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CEFF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663440" cy="55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80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  ·  PROCESSO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8428" y="987552"/>
            <a:ext cx="14127480" cy="987552"/>
            <a:chOff x="0" y="0"/>
            <a:chExt cx="1883664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366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744" r="0" b="-2287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836640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Gestão de tarefas e backlog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38428" y="1942338"/>
            <a:ext cx="1426464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As decisões foram acompanhadas com responsáveis, prioridades e histórico.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04820" y="529590"/>
            <a:ext cx="130302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14447A"/>
                </a:solidFill>
                <a:latin typeface="Arial Bold"/>
                <a:ea typeface="Arial Bold"/>
                <a:cs typeface="Arial Bold"/>
                <a:sym typeface="Arial Bold"/>
              </a:rPr>
              <a:t>05/12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8428" y="9358503"/>
            <a:ext cx="12344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B7380"/>
                </a:solidFill>
                <a:latin typeface="Arial"/>
                <a:ea typeface="Arial"/>
                <a:cs typeface="Arial"/>
                <a:sym typeface="Arial"/>
              </a:rPr>
              <a:t>PASTELARIA DA SOGRA  ·  WEB DESIGN  ·  AC2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38428" y="2674620"/>
            <a:ext cx="1864204" cy="822960"/>
            <a:chOff x="0" y="0"/>
            <a:chExt cx="2485606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8564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856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66188" y="0"/>
                  </a:lnTo>
                  <a:cubicBezTo>
                    <a:pt x="2387346" y="0"/>
                    <a:pt x="2485644" y="98298"/>
                    <a:pt x="2485644" y="219456"/>
                  </a:cubicBezTo>
                  <a:lnTo>
                    <a:pt x="2485644" y="877824"/>
                  </a:lnTo>
                  <a:cubicBezTo>
                    <a:pt x="2485644" y="998982"/>
                    <a:pt x="2387346" y="1097280"/>
                    <a:pt x="2266188" y="1097280"/>
                  </a:cubicBezTo>
                  <a:lnTo>
                    <a:pt x="219456" y="1097280"/>
                  </a:lnTo>
                  <a:cubicBezTo>
                    <a:pt x="98298" y="1097280"/>
                    <a:pt x="0" y="998982"/>
                    <a:pt x="0" y="877824"/>
                  </a:cubicBezTo>
                  <a:close/>
                </a:path>
              </a:pathLst>
            </a:custGeom>
            <a:solidFill>
              <a:srgbClr val="DCE3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75588" y="2674620"/>
            <a:ext cx="754380" cy="822960"/>
            <a:chOff x="0" y="0"/>
            <a:chExt cx="100584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9967" t="0" r="-8996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005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88820" y="2674620"/>
            <a:ext cx="958948" cy="822960"/>
            <a:chOff x="0" y="0"/>
            <a:chExt cx="1278598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86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78604">
                  <a:moveTo>
                    <a:pt x="0" y="0"/>
                  </a:moveTo>
                  <a:lnTo>
                    <a:pt x="1278604" y="0"/>
                  </a:lnTo>
                  <a:lnTo>
                    <a:pt x="12786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0108" t="0" r="-60108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278598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9"/>
                </a:lnSpc>
              </a:pPr>
              <a:r>
                <a:rPr lang="en-US" sz="1425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 Backlog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057496" y="2674620"/>
            <a:ext cx="1891294" cy="822960"/>
            <a:chOff x="0" y="0"/>
            <a:chExt cx="2521725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17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217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302256" y="0"/>
                  </a:lnTo>
                  <a:cubicBezTo>
                    <a:pt x="2423414" y="0"/>
                    <a:pt x="2521712" y="98298"/>
                    <a:pt x="2521712" y="219456"/>
                  </a:cubicBezTo>
                  <a:lnTo>
                    <a:pt x="2521712" y="877824"/>
                  </a:lnTo>
                  <a:cubicBezTo>
                    <a:pt x="2521712" y="998982"/>
                    <a:pt x="2423414" y="1097280"/>
                    <a:pt x="2302256" y="1097280"/>
                  </a:cubicBezTo>
                  <a:lnTo>
                    <a:pt x="219456" y="1097280"/>
                  </a:lnTo>
                  <a:cubicBezTo>
                    <a:pt x="98298" y="1097280"/>
                    <a:pt x="0" y="998982"/>
                    <a:pt x="0" y="877824"/>
                  </a:cubicBezTo>
                  <a:close/>
                </a:path>
              </a:pathLst>
            </a:custGeom>
            <a:solidFill>
              <a:srgbClr val="CDEFF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194656" y="2674620"/>
            <a:ext cx="754380" cy="822960"/>
            <a:chOff x="0" y="0"/>
            <a:chExt cx="10058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9967" t="0" r="-89967" b="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005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907888" y="2674620"/>
            <a:ext cx="986038" cy="822960"/>
            <a:chOff x="0" y="0"/>
            <a:chExt cx="1314717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14716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14716">
                  <a:moveTo>
                    <a:pt x="0" y="0"/>
                  </a:moveTo>
                  <a:lnTo>
                    <a:pt x="1314716" y="0"/>
                  </a:lnTo>
                  <a:lnTo>
                    <a:pt x="131471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7083" t="0" r="-5708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314717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9"/>
                </a:lnSpc>
              </a:pPr>
              <a:r>
                <a:rPr lang="en-US" sz="1425" b="true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Sprint Backlog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03663" y="2674620"/>
            <a:ext cx="1883645" cy="822960"/>
            <a:chOff x="0" y="0"/>
            <a:chExt cx="2511527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115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1155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92096" y="0"/>
                  </a:lnTo>
                  <a:cubicBezTo>
                    <a:pt x="2413254" y="0"/>
                    <a:pt x="2511552" y="98298"/>
                    <a:pt x="2511552" y="219456"/>
                  </a:cubicBezTo>
                  <a:lnTo>
                    <a:pt x="2511552" y="877824"/>
                  </a:lnTo>
                  <a:cubicBezTo>
                    <a:pt x="2511552" y="998982"/>
                    <a:pt x="2413254" y="1097280"/>
                    <a:pt x="2292096" y="1097280"/>
                  </a:cubicBezTo>
                  <a:lnTo>
                    <a:pt x="219456" y="1097280"/>
                  </a:lnTo>
                  <a:cubicBezTo>
                    <a:pt x="98298" y="1097280"/>
                    <a:pt x="0" y="998982"/>
                    <a:pt x="0" y="877824"/>
                  </a:cubicBezTo>
                  <a:close/>
                </a:path>
              </a:pathLst>
            </a:custGeom>
            <a:solidFill>
              <a:srgbClr val="FFF1B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140823" y="2674620"/>
            <a:ext cx="754380" cy="822960"/>
            <a:chOff x="0" y="0"/>
            <a:chExt cx="10058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9967" t="0" r="-89967" b="0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005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6B4E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854055" y="2674620"/>
            <a:ext cx="978389" cy="822960"/>
            <a:chOff x="0" y="0"/>
            <a:chExt cx="1304519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045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04524">
                  <a:moveTo>
                    <a:pt x="0" y="0"/>
                  </a:moveTo>
                  <a:lnTo>
                    <a:pt x="1304524" y="0"/>
                  </a:lnTo>
                  <a:lnTo>
                    <a:pt x="13045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7920" t="0" r="-5792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304519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9"/>
                </a:lnSpc>
              </a:pPr>
              <a:r>
                <a:rPr lang="en-US" sz="1425" b="true">
                  <a:solidFill>
                    <a:srgbClr val="6B4E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Doing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942172" y="2674620"/>
            <a:ext cx="1888303" cy="822960"/>
            <a:chOff x="0" y="0"/>
            <a:chExt cx="2517737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17775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1777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98319" y="0"/>
                  </a:lnTo>
                  <a:cubicBezTo>
                    <a:pt x="2419477" y="0"/>
                    <a:pt x="2517775" y="98298"/>
                    <a:pt x="2517775" y="219456"/>
                  </a:cubicBezTo>
                  <a:lnTo>
                    <a:pt x="2517775" y="877824"/>
                  </a:lnTo>
                  <a:cubicBezTo>
                    <a:pt x="2517775" y="998982"/>
                    <a:pt x="2419477" y="1097280"/>
                    <a:pt x="2298319" y="1097280"/>
                  </a:cubicBezTo>
                  <a:lnTo>
                    <a:pt x="219456" y="1097280"/>
                  </a:lnTo>
                  <a:cubicBezTo>
                    <a:pt x="98298" y="1097280"/>
                    <a:pt x="0" y="998982"/>
                    <a:pt x="0" y="877824"/>
                  </a:cubicBezTo>
                  <a:close/>
                </a:path>
              </a:pathLst>
            </a:custGeom>
            <a:solidFill>
              <a:srgbClr val="D6F1E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079332" y="2674620"/>
            <a:ext cx="754380" cy="822960"/>
            <a:chOff x="0" y="0"/>
            <a:chExt cx="10058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9967" t="0" r="-89967" b="0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005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A6B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792564" y="2674620"/>
            <a:ext cx="983047" cy="822960"/>
            <a:chOff x="0" y="0"/>
            <a:chExt cx="1310729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10732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10732">
                  <a:moveTo>
                    <a:pt x="0" y="0"/>
                  </a:moveTo>
                  <a:lnTo>
                    <a:pt x="1310732" y="0"/>
                  </a:lnTo>
                  <a:lnTo>
                    <a:pt x="131073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7409" t="0" r="-5740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310729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9"/>
                </a:lnSpc>
              </a:pPr>
              <a:r>
                <a:rPr lang="en-US" sz="1425" b="true">
                  <a:solidFill>
                    <a:srgbClr val="0A6B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Done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461411" y="2674620"/>
            <a:ext cx="6283128" cy="822960"/>
            <a:chOff x="0" y="0"/>
            <a:chExt cx="8377504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377555" cy="1097280"/>
            </a:xfrm>
            <a:custGeom>
              <a:avLst/>
              <a:gdLst/>
              <a:ahLst/>
              <a:cxnLst/>
              <a:rect r="r" b="b" t="t" l="l"/>
              <a:pathLst>
                <a:path h="1097280" w="837755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158099" y="0"/>
                  </a:lnTo>
                  <a:cubicBezTo>
                    <a:pt x="8279257" y="0"/>
                    <a:pt x="8377555" y="98298"/>
                    <a:pt x="8377555" y="219456"/>
                  </a:cubicBezTo>
                  <a:lnTo>
                    <a:pt x="8377555" y="877824"/>
                  </a:lnTo>
                  <a:cubicBezTo>
                    <a:pt x="8377555" y="998982"/>
                    <a:pt x="8279257" y="1097280"/>
                    <a:pt x="8158099" y="1097280"/>
                  </a:cubicBezTo>
                  <a:lnTo>
                    <a:pt x="219456" y="1097280"/>
                  </a:lnTo>
                  <a:cubicBezTo>
                    <a:pt x="98298" y="1097280"/>
                    <a:pt x="0" y="998982"/>
                    <a:pt x="0" y="877824"/>
                  </a:cubicBezTo>
                  <a:close/>
                </a:path>
              </a:pathLst>
            </a:custGeom>
            <a:solidFill>
              <a:srgbClr val="EAF0F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67151" y="2674620"/>
            <a:ext cx="5926512" cy="822960"/>
            <a:chOff x="0" y="0"/>
            <a:chExt cx="7902016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902014" cy="1097280"/>
            </a:xfrm>
            <a:custGeom>
              <a:avLst/>
              <a:gdLst/>
              <a:ahLst/>
              <a:cxnLst/>
              <a:rect r="r" b="b" t="t" l="l"/>
              <a:pathLst>
                <a:path h="1097280" w="7902014">
                  <a:moveTo>
                    <a:pt x="0" y="0"/>
                  </a:moveTo>
                  <a:lnTo>
                    <a:pt x="7902014" y="0"/>
                  </a:lnTo>
                  <a:lnTo>
                    <a:pt x="790201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320" r="0" b="-9032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7902016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B524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Cartão detalhado:  </a:t>
              </a:r>
              <a:r>
                <a:rPr lang="en-US" sz="195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Consolidar requisitos do projeto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38428" y="8668512"/>
            <a:ext cx="14538960" cy="466344"/>
            <a:chOff x="0" y="0"/>
            <a:chExt cx="19385280" cy="621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385280" cy="621792"/>
            </a:xfrm>
            <a:custGeom>
              <a:avLst/>
              <a:gdLst/>
              <a:ahLst/>
              <a:cxnLst/>
              <a:rect r="r" b="b" t="t" l="l"/>
              <a:pathLst>
                <a:path h="621792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7474" r="0" b="-55747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938528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41 cartões em 4 colunas:  </a:t>
              </a:r>
              <a:r>
                <a:rPr lang="en-US" sz="1950">
                  <a:solidFill>
                    <a:srgbClr val="5B6373"/>
                  </a:solidFill>
                  <a:latin typeface="Arial"/>
                  <a:ea typeface="Arial"/>
                  <a:cs typeface="Arial"/>
                  <a:sym typeface="Arial"/>
                </a:rPr>
                <a:t>o backlog registra entregas concluídas, tarefas pendentes e evolução futura.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1235314" y="3707130"/>
            <a:ext cx="3561688" cy="4796790"/>
          </a:xfrm>
          <a:custGeom>
            <a:avLst/>
            <a:gdLst/>
            <a:ahLst/>
            <a:cxnLst/>
            <a:rect r="r" b="b" t="t" l="l"/>
            <a:pathLst>
              <a:path h="4796790" w="3561688">
                <a:moveTo>
                  <a:pt x="0" y="0"/>
                </a:moveTo>
                <a:lnTo>
                  <a:pt x="3561688" y="0"/>
                </a:lnTo>
                <a:lnTo>
                  <a:pt x="3561688" y="4796790"/>
                </a:lnTo>
                <a:lnTo>
                  <a:pt x="0" y="47967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4797002" y="3707130"/>
            <a:ext cx="2647218" cy="4796790"/>
          </a:xfrm>
          <a:custGeom>
            <a:avLst/>
            <a:gdLst/>
            <a:ahLst/>
            <a:cxnLst/>
            <a:rect r="r" b="b" t="t" l="l"/>
            <a:pathLst>
              <a:path h="4796790" w="2647218">
                <a:moveTo>
                  <a:pt x="0" y="0"/>
                </a:moveTo>
                <a:lnTo>
                  <a:pt x="2647218" y="0"/>
                </a:lnTo>
                <a:lnTo>
                  <a:pt x="2647218" y="4796790"/>
                </a:lnTo>
                <a:lnTo>
                  <a:pt x="0" y="47967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3" t="0" r="-593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146000" y="3747600"/>
            <a:ext cx="1858754" cy="4715850"/>
          </a:xfrm>
          <a:custGeom>
            <a:avLst/>
            <a:gdLst/>
            <a:ahLst/>
            <a:cxnLst/>
            <a:rect r="r" b="b" t="t" l="l"/>
            <a:pathLst>
              <a:path h="4715850" w="1858754">
                <a:moveTo>
                  <a:pt x="0" y="0"/>
                </a:moveTo>
                <a:lnTo>
                  <a:pt x="1858755" y="0"/>
                </a:lnTo>
                <a:lnTo>
                  <a:pt x="1858755" y="4715850"/>
                </a:lnTo>
                <a:lnTo>
                  <a:pt x="0" y="47158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3004755" y="3747600"/>
            <a:ext cx="1882377" cy="4715850"/>
          </a:xfrm>
          <a:custGeom>
            <a:avLst/>
            <a:gdLst/>
            <a:ahLst/>
            <a:cxnLst/>
            <a:rect r="r" b="b" t="t" l="l"/>
            <a:pathLst>
              <a:path h="4715850" w="1882377">
                <a:moveTo>
                  <a:pt x="0" y="0"/>
                </a:moveTo>
                <a:lnTo>
                  <a:pt x="1882377" y="0"/>
                </a:lnTo>
                <a:lnTo>
                  <a:pt x="1882377" y="4715850"/>
                </a:lnTo>
                <a:lnTo>
                  <a:pt x="0" y="47158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4887132" y="3747600"/>
            <a:ext cx="1878347" cy="4715850"/>
          </a:xfrm>
          <a:custGeom>
            <a:avLst/>
            <a:gdLst/>
            <a:ahLst/>
            <a:cxnLst/>
            <a:rect r="r" b="b" t="t" l="l"/>
            <a:pathLst>
              <a:path h="4715850" w="1878347">
                <a:moveTo>
                  <a:pt x="0" y="0"/>
                </a:moveTo>
                <a:lnTo>
                  <a:pt x="1878347" y="0"/>
                </a:lnTo>
                <a:lnTo>
                  <a:pt x="1878347" y="4715850"/>
                </a:lnTo>
                <a:lnTo>
                  <a:pt x="0" y="4715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6765479" y="3754457"/>
            <a:ext cx="1876372" cy="4708993"/>
          </a:xfrm>
          <a:custGeom>
            <a:avLst/>
            <a:gdLst/>
            <a:ahLst/>
            <a:cxnLst/>
            <a:rect r="r" b="b" t="t" l="l"/>
            <a:pathLst>
              <a:path h="4708993" w="1876372">
                <a:moveTo>
                  <a:pt x="0" y="0"/>
                </a:moveTo>
                <a:lnTo>
                  <a:pt x="1876373" y="0"/>
                </a:lnTo>
                <a:lnTo>
                  <a:pt x="1876373" y="4708993"/>
                </a:lnTo>
                <a:lnTo>
                  <a:pt x="0" y="47089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02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88813" y="8893950"/>
            <a:ext cx="1728187" cy="1326118"/>
            <a:chOff x="0" y="0"/>
            <a:chExt cx="2304250" cy="1768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4288" cy="1768094"/>
            </a:xfrm>
            <a:custGeom>
              <a:avLst/>
              <a:gdLst/>
              <a:ahLst/>
              <a:cxnLst/>
              <a:rect r="r" b="b" t="t" l="l"/>
              <a:pathLst>
                <a:path h="1768094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1768094"/>
                  </a:lnTo>
                  <a:lnTo>
                    <a:pt x="0" y="1768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26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264640" y="4114800"/>
            <a:ext cx="5212080" cy="5212080"/>
            <a:chOff x="0" y="0"/>
            <a:chExt cx="6949440" cy="6949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49440" cy="6949440"/>
            </a:xfrm>
            <a:custGeom>
              <a:avLst/>
              <a:gdLst/>
              <a:ahLst/>
              <a:cxnLst/>
              <a:rect r="r" b="b" t="t" l="l"/>
              <a:pathLst>
                <a:path h="6949440" w="6949440">
                  <a:moveTo>
                    <a:pt x="0" y="3474720"/>
                  </a:moveTo>
                  <a:cubicBezTo>
                    <a:pt x="0" y="1555623"/>
                    <a:pt x="1555623" y="0"/>
                    <a:pt x="3474720" y="0"/>
                  </a:cubicBezTo>
                  <a:cubicBezTo>
                    <a:pt x="5393817" y="0"/>
                    <a:pt x="6949440" y="1555623"/>
                    <a:pt x="6949440" y="3474720"/>
                  </a:cubicBezTo>
                  <a:cubicBezTo>
                    <a:pt x="6949440" y="5393817"/>
                    <a:pt x="5393817" y="6949440"/>
                    <a:pt x="3474720" y="6949440"/>
                  </a:cubicBezTo>
                  <a:cubicBezTo>
                    <a:pt x="1555623" y="6949440"/>
                    <a:pt x="0" y="5393817"/>
                    <a:pt x="0" y="3474720"/>
                  </a:cubicBezTo>
                  <a:close/>
                  <a:moveTo>
                    <a:pt x="590677" y="3474720"/>
                  </a:moveTo>
                  <a:cubicBezTo>
                    <a:pt x="590677" y="5067554"/>
                    <a:pt x="1881886" y="6358763"/>
                    <a:pt x="3474720" y="6358763"/>
                  </a:cubicBezTo>
                  <a:cubicBezTo>
                    <a:pt x="5067554" y="6358763"/>
                    <a:pt x="6358763" y="5067554"/>
                    <a:pt x="6358763" y="3474720"/>
                  </a:cubicBezTo>
                  <a:cubicBezTo>
                    <a:pt x="6358763" y="1881886"/>
                    <a:pt x="5067554" y="590677"/>
                    <a:pt x="3474720" y="590677"/>
                  </a:cubicBezTo>
                  <a:cubicBezTo>
                    <a:pt x="1881886" y="590677"/>
                    <a:pt x="590677" y="1881886"/>
                    <a:pt x="590677" y="3474720"/>
                  </a:cubicBezTo>
                  <a:close/>
                </a:path>
              </a:pathLst>
            </a:custGeom>
            <a:solidFill>
              <a:srgbClr val="00A3E0">
                <a:alpha val="2353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3520" y="2057400"/>
            <a:ext cx="274320" cy="274320"/>
            <a:chOff x="0" y="0"/>
            <a:chExt cx="365760" cy="365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8428" y="493776"/>
            <a:ext cx="3497580" cy="411480"/>
            <a:chOff x="0" y="0"/>
            <a:chExt cx="466344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3440" cy="548640"/>
            </a:xfrm>
            <a:custGeom>
              <a:avLst/>
              <a:gdLst/>
              <a:ahLst/>
              <a:cxnLst/>
              <a:rect r="r" b="b" t="t" l="l"/>
              <a:pathLst>
                <a:path h="548640" w="46634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389120" y="0"/>
                  </a:lnTo>
                  <a:cubicBezTo>
                    <a:pt x="4540631" y="0"/>
                    <a:pt x="4663440" y="122809"/>
                    <a:pt x="4663440" y="274320"/>
                  </a:cubicBezTo>
                  <a:cubicBezTo>
                    <a:pt x="4663440" y="425831"/>
                    <a:pt x="4540631" y="548640"/>
                    <a:pt x="438912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CEFF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663440" cy="55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80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  ·  EQUIPE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8428" y="987552"/>
            <a:ext cx="14127480" cy="987552"/>
            <a:chOff x="0" y="0"/>
            <a:chExt cx="1883664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366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744" r="0" b="-2287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836640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Organização e trabalho em equipe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38428" y="1942338"/>
            <a:ext cx="14264640" cy="51282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1700">
                <a:solidFill>
                  <a:srgbClr val="617184"/>
                </a:solidFill>
                <a:latin typeface="Aptos"/>
              </a:rPr>
              <a:t>Papéis complementares, tarefas registradas e integração das entregas.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04820" y="529590"/>
            <a:ext cx="130302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14447A"/>
                </a:solidFill>
                <a:latin typeface="Arial Bold"/>
                <a:ea typeface="Arial Bold"/>
                <a:cs typeface="Arial Bold"/>
                <a:sym typeface="Arial Bold"/>
              </a:rPr>
              <a:t>06/12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8428" y="9358503"/>
            <a:ext cx="12344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B7380"/>
                </a:solidFill>
                <a:latin typeface="Arial"/>
                <a:ea typeface="Arial"/>
                <a:cs typeface="Arial"/>
                <a:sym typeface="Arial"/>
              </a:rPr>
              <a:t>PASTELARIA DA SOGRA  ·  WEB DESIGN  ·  AC2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38428" y="2743200"/>
            <a:ext cx="2990088" cy="5280660"/>
            <a:chOff x="0" y="0"/>
            <a:chExt cx="3986784" cy="7040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86784" cy="7040880"/>
            </a:xfrm>
            <a:custGeom>
              <a:avLst/>
              <a:gdLst/>
              <a:ahLst/>
              <a:cxnLst/>
              <a:rect r="r" b="b" t="t" l="l"/>
              <a:pathLst>
                <a:path h="7040880" w="3986784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3621024" y="0"/>
                  </a:lnTo>
                  <a:cubicBezTo>
                    <a:pt x="3823081" y="0"/>
                    <a:pt x="3986784" y="163703"/>
                    <a:pt x="3986784" y="365760"/>
                  </a:cubicBezTo>
                  <a:lnTo>
                    <a:pt x="3986784" y="6675120"/>
                  </a:lnTo>
                  <a:cubicBezTo>
                    <a:pt x="3986784" y="6877176"/>
                    <a:pt x="3823081" y="7040880"/>
                    <a:pt x="3621024" y="7040880"/>
                  </a:cubicBezTo>
                  <a:lnTo>
                    <a:pt x="365760" y="7040880"/>
                  </a:lnTo>
                  <a:cubicBezTo>
                    <a:pt x="163703" y="7040880"/>
                    <a:pt x="0" y="6877177"/>
                    <a:pt x="0" y="6675120"/>
                  </a:cubicBezTo>
                  <a:close/>
                </a:path>
              </a:pathLst>
            </a:custGeom>
            <a:solidFill>
              <a:srgbClr val="266BA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40180" y="3086100"/>
            <a:ext cx="1261872" cy="1261872"/>
            <a:chOff x="0" y="0"/>
            <a:chExt cx="1682496" cy="16824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82496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82496">
                  <a:moveTo>
                    <a:pt x="0" y="841248"/>
                  </a:moveTo>
                  <a:cubicBezTo>
                    <a:pt x="0" y="376682"/>
                    <a:pt x="376682" y="0"/>
                    <a:pt x="841248" y="0"/>
                  </a:cubicBezTo>
                  <a:cubicBezTo>
                    <a:pt x="1305814" y="0"/>
                    <a:pt x="1682496" y="376682"/>
                    <a:pt x="1682496" y="841248"/>
                  </a:cubicBezTo>
                  <a:cubicBezTo>
                    <a:pt x="1682496" y="1305814"/>
                    <a:pt x="1305814" y="1682496"/>
                    <a:pt x="841248" y="1682496"/>
                  </a:cubicBezTo>
                  <a:cubicBezTo>
                    <a:pt x="376682" y="1682496"/>
                    <a:pt x="0" y="1305814"/>
                    <a:pt x="0" y="841248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15034" y="3086100"/>
            <a:ext cx="1261872" cy="1261872"/>
            <a:chOff x="0" y="0"/>
            <a:chExt cx="1682496" cy="16824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82496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682496" cy="17110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0180" y="4526280"/>
            <a:ext cx="1645920" cy="387121"/>
            <a:chOff x="0" y="0"/>
            <a:chExt cx="2194560" cy="5161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" cy="516161"/>
            </a:xfrm>
            <a:custGeom>
              <a:avLst/>
              <a:gdLst/>
              <a:ahLst/>
              <a:cxnLst/>
              <a:rect r="r" b="b" t="t" l="l"/>
              <a:pathLst>
                <a:path h="516161" w="2194560">
                  <a:moveTo>
                    <a:pt x="0" y="258080"/>
                  </a:moveTo>
                  <a:cubicBezTo>
                    <a:pt x="0" y="115499"/>
                    <a:pt x="110490" y="0"/>
                    <a:pt x="246888" y="0"/>
                  </a:cubicBezTo>
                  <a:lnTo>
                    <a:pt x="1947672" y="0"/>
                  </a:lnTo>
                  <a:cubicBezTo>
                    <a:pt x="2084070" y="0"/>
                    <a:pt x="2194560" y="115499"/>
                    <a:pt x="2194560" y="258080"/>
                  </a:cubicBezTo>
                  <a:cubicBezTo>
                    <a:pt x="2194560" y="400662"/>
                    <a:pt x="2084070" y="516161"/>
                    <a:pt x="1947672" y="516161"/>
                  </a:cubicBezTo>
                  <a:lnTo>
                    <a:pt x="246888" y="516161"/>
                  </a:lnTo>
                  <a:cubicBezTo>
                    <a:pt x="110490" y="516161"/>
                    <a:pt x="0" y="400662"/>
                    <a:pt x="0" y="258080"/>
                  </a:cubicBezTo>
                  <a:close/>
                </a:path>
              </a:pathLst>
            </a:custGeom>
            <a:solidFill>
              <a:srgbClr val="EAF0F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194560" cy="535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 190508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40180" y="5056632"/>
            <a:ext cx="2441448" cy="1005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Vitor Hugo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Rosario dos Santos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0242" y="6071616"/>
            <a:ext cx="2441448" cy="14904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Gestão do Trello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Organização do GitHub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Desenvolvimento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334256" y="2743200"/>
            <a:ext cx="2990088" cy="5280660"/>
            <a:chOff x="0" y="0"/>
            <a:chExt cx="3986784" cy="7040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86784" cy="7040880"/>
            </a:xfrm>
            <a:custGeom>
              <a:avLst/>
              <a:gdLst/>
              <a:ahLst/>
              <a:cxnLst/>
              <a:rect r="r" b="b" t="t" l="l"/>
              <a:pathLst>
                <a:path h="7040880" w="3986784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3621024" y="0"/>
                  </a:lnTo>
                  <a:cubicBezTo>
                    <a:pt x="3823081" y="0"/>
                    <a:pt x="3986784" y="163703"/>
                    <a:pt x="3986784" y="365760"/>
                  </a:cubicBezTo>
                  <a:lnTo>
                    <a:pt x="3986784" y="6675120"/>
                  </a:lnTo>
                  <a:cubicBezTo>
                    <a:pt x="3986784" y="6877176"/>
                    <a:pt x="3823081" y="7040880"/>
                    <a:pt x="3621024" y="7040880"/>
                  </a:cubicBezTo>
                  <a:lnTo>
                    <a:pt x="365760" y="7040880"/>
                  </a:lnTo>
                  <a:cubicBezTo>
                    <a:pt x="163703" y="7040880"/>
                    <a:pt x="0" y="6877177"/>
                    <a:pt x="0" y="6675120"/>
                  </a:cubicBezTo>
                  <a:close/>
                </a:path>
              </a:pathLst>
            </a:custGeom>
            <a:solidFill>
              <a:srgbClr val="00BA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636008" y="3086100"/>
            <a:ext cx="1261872" cy="1261872"/>
            <a:chOff x="0" y="0"/>
            <a:chExt cx="1682496" cy="16824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82496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82496">
                  <a:moveTo>
                    <a:pt x="0" y="841248"/>
                  </a:moveTo>
                  <a:cubicBezTo>
                    <a:pt x="0" y="376682"/>
                    <a:pt x="376682" y="0"/>
                    <a:pt x="841248" y="0"/>
                  </a:cubicBezTo>
                  <a:cubicBezTo>
                    <a:pt x="1305814" y="0"/>
                    <a:pt x="1682496" y="376682"/>
                    <a:pt x="1682496" y="841248"/>
                  </a:cubicBezTo>
                  <a:cubicBezTo>
                    <a:pt x="1682496" y="1305814"/>
                    <a:pt x="1305814" y="1682496"/>
                    <a:pt x="841248" y="1682496"/>
                  </a:cubicBezTo>
                  <a:cubicBezTo>
                    <a:pt x="376682" y="1682496"/>
                    <a:pt x="0" y="1305814"/>
                    <a:pt x="0" y="841248"/>
                  </a:cubicBezTo>
                  <a:close/>
                </a:path>
              </a:pathLst>
            </a:custGeom>
            <a:solidFill>
              <a:srgbClr val="00A3E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636008" y="3086100"/>
            <a:ext cx="1261872" cy="1261872"/>
            <a:chOff x="0" y="0"/>
            <a:chExt cx="1682496" cy="16824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82496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682496" cy="17110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636008" y="4526280"/>
            <a:ext cx="1645920" cy="387121"/>
            <a:chOff x="0" y="0"/>
            <a:chExt cx="2194560" cy="51616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" cy="516161"/>
            </a:xfrm>
            <a:custGeom>
              <a:avLst/>
              <a:gdLst/>
              <a:ahLst/>
              <a:cxnLst/>
              <a:rect r="r" b="b" t="t" l="l"/>
              <a:pathLst>
                <a:path h="516161" w="2194560">
                  <a:moveTo>
                    <a:pt x="0" y="258080"/>
                  </a:moveTo>
                  <a:cubicBezTo>
                    <a:pt x="0" y="115499"/>
                    <a:pt x="110490" y="0"/>
                    <a:pt x="246888" y="0"/>
                  </a:cubicBezTo>
                  <a:lnTo>
                    <a:pt x="1947672" y="0"/>
                  </a:lnTo>
                  <a:cubicBezTo>
                    <a:pt x="2084070" y="0"/>
                    <a:pt x="2194560" y="115499"/>
                    <a:pt x="2194560" y="258080"/>
                  </a:cubicBezTo>
                  <a:cubicBezTo>
                    <a:pt x="2194560" y="400662"/>
                    <a:pt x="2084070" y="516161"/>
                    <a:pt x="1947672" y="516161"/>
                  </a:cubicBezTo>
                  <a:lnTo>
                    <a:pt x="246888" y="516161"/>
                  </a:lnTo>
                  <a:cubicBezTo>
                    <a:pt x="110490" y="516161"/>
                    <a:pt x="0" y="400662"/>
                    <a:pt x="0" y="258080"/>
                  </a:cubicBezTo>
                  <a:close/>
                </a:path>
              </a:pathLst>
            </a:custGeom>
            <a:solidFill>
              <a:srgbClr val="EAF0F8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194560" cy="535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 263232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4636008" y="5056632"/>
            <a:ext cx="2441448" cy="1005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Davi de Oliveira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Silva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583811" y="6071616"/>
            <a:ext cx="2441448" cy="14904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Testes funcionais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Identificação de falhas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530084" y="2743200"/>
            <a:ext cx="2990088" cy="5280660"/>
            <a:chOff x="0" y="0"/>
            <a:chExt cx="3986784" cy="7040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86784" cy="7040880"/>
            </a:xfrm>
            <a:custGeom>
              <a:avLst/>
              <a:gdLst/>
              <a:ahLst/>
              <a:cxnLst/>
              <a:rect r="r" b="b" t="t" l="l"/>
              <a:pathLst>
                <a:path h="7040880" w="3986784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3621024" y="0"/>
                  </a:lnTo>
                  <a:cubicBezTo>
                    <a:pt x="3823081" y="0"/>
                    <a:pt x="3986784" y="163703"/>
                    <a:pt x="3986784" y="365760"/>
                  </a:cubicBezTo>
                  <a:lnTo>
                    <a:pt x="3986784" y="6675120"/>
                  </a:lnTo>
                  <a:cubicBezTo>
                    <a:pt x="3986784" y="6877176"/>
                    <a:pt x="3823081" y="7040880"/>
                    <a:pt x="3621024" y="7040880"/>
                  </a:cubicBezTo>
                  <a:lnTo>
                    <a:pt x="365760" y="7040880"/>
                  </a:lnTo>
                  <a:cubicBezTo>
                    <a:pt x="163703" y="7040880"/>
                    <a:pt x="0" y="6877177"/>
                    <a:pt x="0" y="6675120"/>
                  </a:cubicBezTo>
                  <a:close/>
                </a:path>
              </a:pathLst>
            </a:custGeom>
            <a:solidFill>
              <a:srgbClr val="FF514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831836" y="3086100"/>
            <a:ext cx="1261872" cy="1261872"/>
            <a:chOff x="0" y="0"/>
            <a:chExt cx="1682496" cy="16824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82496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82496">
                  <a:moveTo>
                    <a:pt x="0" y="841248"/>
                  </a:moveTo>
                  <a:cubicBezTo>
                    <a:pt x="0" y="376682"/>
                    <a:pt x="376682" y="0"/>
                    <a:pt x="841248" y="0"/>
                  </a:cubicBezTo>
                  <a:cubicBezTo>
                    <a:pt x="1305814" y="0"/>
                    <a:pt x="1682496" y="376682"/>
                    <a:pt x="1682496" y="841248"/>
                  </a:cubicBezTo>
                  <a:cubicBezTo>
                    <a:pt x="1682496" y="1305814"/>
                    <a:pt x="1305814" y="1682496"/>
                    <a:pt x="841248" y="1682496"/>
                  </a:cubicBezTo>
                  <a:cubicBezTo>
                    <a:pt x="376682" y="1682496"/>
                    <a:pt x="0" y="1305814"/>
                    <a:pt x="0" y="841248"/>
                  </a:cubicBezTo>
                  <a:close/>
                </a:path>
              </a:pathLst>
            </a:custGeom>
            <a:solidFill>
              <a:srgbClr val="B5241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831836" y="3086100"/>
            <a:ext cx="1261872" cy="1261872"/>
            <a:chOff x="0" y="0"/>
            <a:chExt cx="1682496" cy="16824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82496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682496" cy="17110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831836" y="4526280"/>
            <a:ext cx="1645920" cy="370332"/>
            <a:chOff x="0" y="0"/>
            <a:chExt cx="2194560" cy="4937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" cy="493776"/>
            </a:xfrm>
            <a:custGeom>
              <a:avLst/>
              <a:gdLst/>
              <a:ahLst/>
              <a:cxnLst/>
              <a:rect r="r" b="b" t="t" l="l"/>
              <a:pathLst>
                <a:path h="493776" w="219456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1947672" y="0"/>
                  </a:lnTo>
                  <a:cubicBezTo>
                    <a:pt x="2084070" y="0"/>
                    <a:pt x="2194560" y="110490"/>
                    <a:pt x="2194560" y="246888"/>
                  </a:cubicBezTo>
                  <a:cubicBezTo>
                    <a:pt x="2194560" y="383286"/>
                    <a:pt x="2084070" y="493776"/>
                    <a:pt x="1947672" y="493776"/>
                  </a:cubicBezTo>
                  <a:lnTo>
                    <a:pt x="246888" y="493776"/>
                  </a:lnTo>
                  <a:cubicBezTo>
                    <a:pt x="110490" y="493776"/>
                    <a:pt x="0" y="383286"/>
                    <a:pt x="0" y="246888"/>
                  </a:cubicBezTo>
                  <a:close/>
                </a:path>
              </a:pathLst>
            </a:custGeom>
            <a:solidFill>
              <a:srgbClr val="EAF0F8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2194560" cy="512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 264921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7831836" y="5056632"/>
            <a:ext cx="2441448" cy="1005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Matheus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Giachetti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827264" y="6071616"/>
            <a:ext cx="2441448" cy="14904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Desenvolvimento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SEO técnico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Apresentação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0725912" y="2743200"/>
            <a:ext cx="2990088" cy="5280660"/>
            <a:chOff x="0" y="0"/>
            <a:chExt cx="3986784" cy="7040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986784" cy="7040880"/>
            </a:xfrm>
            <a:custGeom>
              <a:avLst/>
              <a:gdLst/>
              <a:ahLst/>
              <a:cxnLst/>
              <a:rect r="r" b="b" t="t" l="l"/>
              <a:pathLst>
                <a:path h="7040880" w="3986784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3621024" y="0"/>
                  </a:lnTo>
                  <a:cubicBezTo>
                    <a:pt x="3823081" y="0"/>
                    <a:pt x="3986784" y="163703"/>
                    <a:pt x="3986784" y="365760"/>
                  </a:cubicBezTo>
                  <a:lnTo>
                    <a:pt x="3986784" y="6675120"/>
                  </a:lnTo>
                  <a:cubicBezTo>
                    <a:pt x="3986784" y="6877176"/>
                    <a:pt x="3823081" y="7040880"/>
                    <a:pt x="3621024" y="7040880"/>
                  </a:cubicBezTo>
                  <a:lnTo>
                    <a:pt x="365760" y="7040880"/>
                  </a:lnTo>
                  <a:cubicBezTo>
                    <a:pt x="163703" y="7040880"/>
                    <a:pt x="0" y="6877177"/>
                    <a:pt x="0" y="6675120"/>
                  </a:cubicBezTo>
                  <a:close/>
                </a:path>
              </a:pathLst>
            </a:custGeom>
            <a:solidFill>
              <a:srgbClr val="FFCD5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027664" y="3086100"/>
            <a:ext cx="1261872" cy="1261872"/>
            <a:chOff x="0" y="0"/>
            <a:chExt cx="1682496" cy="16824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82496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82496">
                  <a:moveTo>
                    <a:pt x="0" y="841248"/>
                  </a:moveTo>
                  <a:cubicBezTo>
                    <a:pt x="0" y="376682"/>
                    <a:pt x="376682" y="0"/>
                    <a:pt x="841248" y="0"/>
                  </a:cubicBezTo>
                  <a:cubicBezTo>
                    <a:pt x="1305814" y="0"/>
                    <a:pt x="1682496" y="376682"/>
                    <a:pt x="1682496" y="841248"/>
                  </a:cubicBezTo>
                  <a:cubicBezTo>
                    <a:pt x="1682496" y="1305814"/>
                    <a:pt x="1305814" y="1682496"/>
                    <a:pt x="841248" y="1682496"/>
                  </a:cubicBezTo>
                  <a:cubicBezTo>
                    <a:pt x="376682" y="1682496"/>
                    <a:pt x="0" y="1305814"/>
                    <a:pt x="0" y="841248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027664" y="3086100"/>
            <a:ext cx="1261872" cy="1261872"/>
            <a:chOff x="0" y="0"/>
            <a:chExt cx="1682496" cy="16824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82496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682496" cy="17110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027664" y="4526280"/>
            <a:ext cx="1645920" cy="370332"/>
            <a:chOff x="0" y="0"/>
            <a:chExt cx="2194560" cy="4937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4560" cy="493776"/>
            </a:xfrm>
            <a:custGeom>
              <a:avLst/>
              <a:gdLst/>
              <a:ahLst/>
              <a:cxnLst/>
              <a:rect r="r" b="b" t="t" l="l"/>
              <a:pathLst>
                <a:path h="493776" w="219456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1947672" y="0"/>
                  </a:lnTo>
                  <a:cubicBezTo>
                    <a:pt x="2084070" y="0"/>
                    <a:pt x="2194560" y="110490"/>
                    <a:pt x="2194560" y="246888"/>
                  </a:cubicBezTo>
                  <a:cubicBezTo>
                    <a:pt x="2194560" y="383286"/>
                    <a:pt x="2084070" y="493776"/>
                    <a:pt x="1947672" y="493776"/>
                  </a:cubicBezTo>
                  <a:lnTo>
                    <a:pt x="246888" y="493776"/>
                  </a:lnTo>
                  <a:cubicBezTo>
                    <a:pt x="110490" y="493776"/>
                    <a:pt x="0" y="383286"/>
                    <a:pt x="0" y="246888"/>
                  </a:cubicBezTo>
                  <a:close/>
                </a:path>
              </a:pathLst>
            </a:custGeom>
            <a:solidFill>
              <a:srgbClr val="EAF0F8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2194560" cy="512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 264099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1027664" y="5056632"/>
            <a:ext cx="2441448" cy="1005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Gabriel Martins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Antunes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3921740" y="2743200"/>
            <a:ext cx="2990088" cy="5280660"/>
            <a:chOff x="0" y="0"/>
            <a:chExt cx="3986784" cy="70408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986784" cy="7040880"/>
            </a:xfrm>
            <a:custGeom>
              <a:avLst/>
              <a:gdLst/>
              <a:ahLst/>
              <a:cxnLst/>
              <a:rect r="r" b="b" t="t" l="l"/>
              <a:pathLst>
                <a:path h="7040880" w="3986784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3621024" y="0"/>
                  </a:lnTo>
                  <a:cubicBezTo>
                    <a:pt x="3823081" y="0"/>
                    <a:pt x="3986784" y="163703"/>
                    <a:pt x="3986784" y="365760"/>
                  </a:cubicBezTo>
                  <a:lnTo>
                    <a:pt x="3986784" y="6675120"/>
                  </a:lnTo>
                  <a:cubicBezTo>
                    <a:pt x="3986784" y="6877176"/>
                    <a:pt x="3823081" y="7040880"/>
                    <a:pt x="3621024" y="7040880"/>
                  </a:cubicBezTo>
                  <a:lnTo>
                    <a:pt x="365760" y="7040880"/>
                  </a:lnTo>
                  <a:cubicBezTo>
                    <a:pt x="163703" y="7040880"/>
                    <a:pt x="0" y="6877177"/>
                    <a:pt x="0" y="6675120"/>
                  </a:cubicBezTo>
                  <a:close/>
                </a:path>
              </a:pathLst>
            </a:custGeom>
            <a:solidFill>
              <a:srgbClr val="3BAB6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223492" y="3086100"/>
            <a:ext cx="1261872" cy="1261872"/>
            <a:chOff x="0" y="0"/>
            <a:chExt cx="1682496" cy="16824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682496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82496">
                  <a:moveTo>
                    <a:pt x="0" y="841248"/>
                  </a:moveTo>
                  <a:cubicBezTo>
                    <a:pt x="0" y="376682"/>
                    <a:pt x="376682" y="0"/>
                    <a:pt x="841248" y="0"/>
                  </a:cubicBezTo>
                  <a:cubicBezTo>
                    <a:pt x="1305814" y="0"/>
                    <a:pt x="1682496" y="376682"/>
                    <a:pt x="1682496" y="841248"/>
                  </a:cubicBezTo>
                  <a:cubicBezTo>
                    <a:pt x="1682496" y="1305814"/>
                    <a:pt x="1305814" y="1682496"/>
                    <a:pt x="841248" y="1682496"/>
                  </a:cubicBezTo>
                  <a:cubicBezTo>
                    <a:pt x="376682" y="1682496"/>
                    <a:pt x="0" y="1305814"/>
                    <a:pt x="0" y="841248"/>
                  </a:cubicBezTo>
                  <a:close/>
                </a:path>
              </a:pathLst>
            </a:custGeom>
            <a:solidFill>
              <a:srgbClr val="1E9E5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223492" y="3086100"/>
            <a:ext cx="1261872" cy="1261872"/>
            <a:chOff x="0" y="0"/>
            <a:chExt cx="1682496" cy="16824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682496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682496" cy="17110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223492" y="4526280"/>
            <a:ext cx="1645920" cy="370332"/>
            <a:chOff x="0" y="0"/>
            <a:chExt cx="2194560" cy="49377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94560" cy="493776"/>
            </a:xfrm>
            <a:custGeom>
              <a:avLst/>
              <a:gdLst/>
              <a:ahLst/>
              <a:cxnLst/>
              <a:rect r="r" b="b" t="t" l="l"/>
              <a:pathLst>
                <a:path h="493776" w="2194560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1947672" y="0"/>
                  </a:lnTo>
                  <a:cubicBezTo>
                    <a:pt x="2084070" y="0"/>
                    <a:pt x="2194560" y="110490"/>
                    <a:pt x="2194560" y="246888"/>
                  </a:cubicBezTo>
                  <a:cubicBezTo>
                    <a:pt x="2194560" y="383286"/>
                    <a:pt x="2084070" y="493776"/>
                    <a:pt x="1947672" y="493776"/>
                  </a:cubicBezTo>
                  <a:lnTo>
                    <a:pt x="246888" y="493776"/>
                  </a:lnTo>
                  <a:cubicBezTo>
                    <a:pt x="110490" y="493776"/>
                    <a:pt x="0" y="383286"/>
                    <a:pt x="0" y="246888"/>
                  </a:cubicBezTo>
                  <a:close/>
                </a:path>
              </a:pathLst>
            </a:custGeom>
            <a:solidFill>
              <a:srgbClr val="EAF0F8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2194560" cy="512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 263648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4223492" y="5056632"/>
            <a:ext cx="2441448" cy="1005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Gabriel Martins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Antunes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138428" y="8435340"/>
            <a:ext cx="356616" cy="356616"/>
            <a:chOff x="0" y="0"/>
            <a:chExt cx="475488" cy="4754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1E9E5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38428" y="8435340"/>
            <a:ext cx="356616" cy="356616"/>
            <a:chOff x="0" y="0"/>
            <a:chExt cx="475488" cy="47548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59636" y="8394192"/>
            <a:ext cx="4389120" cy="438912"/>
            <a:chOff x="0" y="0"/>
            <a:chExt cx="5852160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585216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Responsáveis nos cartões do Trello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281928" y="8435340"/>
            <a:ext cx="356616" cy="356616"/>
            <a:chOff x="0" y="0"/>
            <a:chExt cx="475488" cy="47548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1E9E5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281928" y="8435340"/>
            <a:ext cx="356616" cy="356616"/>
            <a:chOff x="0" y="0"/>
            <a:chExt cx="475488" cy="47548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6803136" y="8394192"/>
            <a:ext cx="4389120" cy="438912"/>
            <a:chOff x="0" y="0"/>
            <a:chExt cx="5852160" cy="58521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585216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Protótipos versionados no repositório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425428" y="8435340"/>
            <a:ext cx="356616" cy="356616"/>
            <a:chOff x="0" y="0"/>
            <a:chExt cx="475488" cy="47548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1E9E5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1425428" y="8435340"/>
            <a:ext cx="356616" cy="356616"/>
            <a:chOff x="0" y="0"/>
            <a:chExt cx="475488" cy="4754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946636" y="8394192"/>
            <a:ext cx="4389120" cy="438912"/>
            <a:chOff x="0" y="0"/>
            <a:chExt cx="5852160" cy="58521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585216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Commits e histórico no GitHub</a:t>
              </a: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10876788" y="6071616"/>
            <a:ext cx="2441448" cy="14904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Testes e validação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Pesquisa visual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Benchmarking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4223492" y="6071616"/>
            <a:ext cx="2441448" cy="14904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Testes e validação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Benchmarking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88813" y="8893950"/>
            <a:ext cx="1728187" cy="1326118"/>
            <a:chOff x="0" y="0"/>
            <a:chExt cx="2304250" cy="1768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4288" cy="1768094"/>
            </a:xfrm>
            <a:custGeom>
              <a:avLst/>
              <a:gdLst/>
              <a:ahLst/>
              <a:cxnLst/>
              <a:rect r="r" b="b" t="t" l="l"/>
              <a:pathLst>
                <a:path h="1768094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1768094"/>
                  </a:lnTo>
                  <a:lnTo>
                    <a:pt x="0" y="1768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26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16000" y="-1783080"/>
            <a:ext cx="5486400" cy="5486400"/>
            <a:chOff x="0" y="0"/>
            <a:chExt cx="7315200" cy="731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  <a:moveTo>
                    <a:pt x="621792" y="3657600"/>
                  </a:moveTo>
                  <a:cubicBezTo>
                    <a:pt x="621792" y="5334254"/>
                    <a:pt x="1980946" y="6693408"/>
                    <a:pt x="3657600" y="6693408"/>
                  </a:cubicBezTo>
                  <a:cubicBezTo>
                    <a:pt x="5334254" y="6693408"/>
                    <a:pt x="6693408" y="5334254"/>
                    <a:pt x="6693408" y="3657600"/>
                  </a:cubicBezTo>
                  <a:cubicBezTo>
                    <a:pt x="6693408" y="1980946"/>
                    <a:pt x="5334254" y="621792"/>
                    <a:pt x="3657600" y="621792"/>
                  </a:cubicBezTo>
                  <a:cubicBezTo>
                    <a:pt x="1980946" y="621792"/>
                    <a:pt x="621792" y="1980946"/>
                    <a:pt x="621792" y="3657600"/>
                  </a:cubicBezTo>
                  <a:close/>
                </a:path>
              </a:pathLst>
            </a:custGeom>
            <a:solidFill>
              <a:srgbClr val="00A3E0">
                <a:alpha val="2353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3520" y="2125980"/>
            <a:ext cx="274320" cy="274320"/>
            <a:chOff x="0" y="0"/>
            <a:chExt cx="365760" cy="365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8428" y="493776"/>
            <a:ext cx="3497580" cy="411480"/>
            <a:chOff x="0" y="0"/>
            <a:chExt cx="466344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3440" cy="548640"/>
            </a:xfrm>
            <a:custGeom>
              <a:avLst/>
              <a:gdLst/>
              <a:ahLst/>
              <a:cxnLst/>
              <a:rect r="r" b="b" t="t" l="l"/>
              <a:pathLst>
                <a:path h="548640" w="46634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389120" y="0"/>
                  </a:lnTo>
                  <a:cubicBezTo>
                    <a:pt x="4540631" y="0"/>
                    <a:pt x="4663440" y="122809"/>
                    <a:pt x="4663440" y="274320"/>
                  </a:cubicBezTo>
                  <a:cubicBezTo>
                    <a:pt x="4663440" y="425831"/>
                    <a:pt x="4540631" y="548640"/>
                    <a:pt x="438912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CEFF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663440" cy="55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80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  ·  TECNOLOGIA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8428" y="987552"/>
            <a:ext cx="14127480" cy="987552"/>
            <a:chOff x="0" y="0"/>
            <a:chExt cx="1883664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366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744" r="0" b="-2287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836640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Desenvolvimento e decisões técnicas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38428" y="1942338"/>
            <a:ext cx="1426464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Tecnologias compatíveis com o escopo: site estático, interativo e responsivo.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04820" y="529590"/>
            <a:ext cx="130302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14447A"/>
                </a:solidFill>
                <a:latin typeface="Arial Bold"/>
                <a:ea typeface="Arial Bold"/>
                <a:cs typeface="Arial Bold"/>
                <a:sym typeface="Arial Bold"/>
              </a:rPr>
              <a:t>07/12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8428" y="9358503"/>
            <a:ext cx="12344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B7380"/>
                </a:solidFill>
                <a:latin typeface="Arial"/>
                <a:ea typeface="Arial"/>
                <a:cs typeface="Arial"/>
                <a:sym typeface="Arial"/>
              </a:rPr>
              <a:t>PASTELARIA DA SOGRA  ·  WEB DESIGN  ·  AC2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38428" y="2674620"/>
            <a:ext cx="5143500" cy="2400300"/>
            <a:chOff x="0" y="0"/>
            <a:chExt cx="6858000" cy="3200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80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68580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6492240" y="0"/>
                  </a:lnTo>
                  <a:cubicBezTo>
                    <a:pt x="6694297" y="0"/>
                    <a:pt x="6858000" y="163703"/>
                    <a:pt x="6858000" y="365760"/>
                  </a:cubicBezTo>
                  <a:lnTo>
                    <a:pt x="6858000" y="2834640"/>
                  </a:lnTo>
                  <a:cubicBezTo>
                    <a:pt x="6858000" y="3036697"/>
                    <a:pt x="6694297" y="3200400"/>
                    <a:pt x="6492240" y="3200400"/>
                  </a:cubicBezTo>
                  <a:lnTo>
                    <a:pt x="365760" y="3200400"/>
                  </a:lnTo>
                  <a:cubicBezTo>
                    <a:pt x="163703" y="3200400"/>
                    <a:pt x="0" y="3036697"/>
                    <a:pt x="0" y="2834640"/>
                  </a:cubicBezTo>
                  <a:close/>
                </a:path>
              </a:pathLst>
            </a:custGeom>
            <a:solidFill>
              <a:srgbClr val="437DB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81328" y="3044952"/>
            <a:ext cx="1165860" cy="1165860"/>
            <a:chOff x="0" y="0"/>
            <a:chExt cx="155448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188720" y="0"/>
                  </a:lnTo>
                  <a:cubicBezTo>
                    <a:pt x="1390777" y="0"/>
                    <a:pt x="1554480" y="163703"/>
                    <a:pt x="1554480" y="365760"/>
                  </a:cubicBezTo>
                  <a:lnTo>
                    <a:pt x="1554480" y="1188720"/>
                  </a:lnTo>
                  <a:cubicBezTo>
                    <a:pt x="1554480" y="1390777"/>
                    <a:pt x="1390777" y="1554480"/>
                    <a:pt x="1188720" y="1554480"/>
                  </a:cubicBezTo>
                  <a:lnTo>
                    <a:pt x="365760" y="1554480"/>
                  </a:lnTo>
                  <a:cubicBezTo>
                    <a:pt x="163703" y="1554480"/>
                    <a:pt x="0" y="1390777"/>
                    <a:pt x="0" y="1188720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81328" y="3044952"/>
            <a:ext cx="1165860" cy="1165860"/>
            <a:chOff x="0" y="0"/>
            <a:chExt cx="1554480" cy="1554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55448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921508" y="3017520"/>
            <a:ext cx="3154680" cy="617220"/>
            <a:chOff x="0" y="0"/>
            <a:chExt cx="420624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2062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HTML5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81328" y="4311015"/>
            <a:ext cx="44577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Estrutura semântica das seis páginas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56248" y="2674620"/>
            <a:ext cx="5143500" cy="2400300"/>
            <a:chOff x="0" y="0"/>
            <a:chExt cx="6858000" cy="3200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580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68580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6492240" y="0"/>
                  </a:lnTo>
                  <a:cubicBezTo>
                    <a:pt x="6694297" y="0"/>
                    <a:pt x="6858000" y="163703"/>
                    <a:pt x="6858000" y="365760"/>
                  </a:cubicBezTo>
                  <a:lnTo>
                    <a:pt x="6858000" y="2834640"/>
                  </a:lnTo>
                  <a:cubicBezTo>
                    <a:pt x="6858000" y="3036697"/>
                    <a:pt x="6694297" y="3200400"/>
                    <a:pt x="6492240" y="3200400"/>
                  </a:cubicBezTo>
                  <a:lnTo>
                    <a:pt x="365760" y="3200400"/>
                  </a:lnTo>
                  <a:cubicBezTo>
                    <a:pt x="163703" y="3200400"/>
                    <a:pt x="0" y="3036697"/>
                    <a:pt x="0" y="2834640"/>
                  </a:cubicBezTo>
                  <a:close/>
                </a:path>
              </a:pathLst>
            </a:custGeom>
            <a:solidFill>
              <a:srgbClr val="12B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99148" y="3044952"/>
            <a:ext cx="1165860" cy="1165860"/>
            <a:chOff x="0" y="0"/>
            <a:chExt cx="1554480" cy="1554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188720" y="0"/>
                  </a:lnTo>
                  <a:cubicBezTo>
                    <a:pt x="1390777" y="0"/>
                    <a:pt x="1554480" y="163703"/>
                    <a:pt x="1554480" y="365760"/>
                  </a:cubicBezTo>
                  <a:lnTo>
                    <a:pt x="1554480" y="1188720"/>
                  </a:lnTo>
                  <a:cubicBezTo>
                    <a:pt x="1554480" y="1390777"/>
                    <a:pt x="1390777" y="1554480"/>
                    <a:pt x="1188720" y="1554480"/>
                  </a:cubicBezTo>
                  <a:lnTo>
                    <a:pt x="365760" y="1554480"/>
                  </a:lnTo>
                  <a:cubicBezTo>
                    <a:pt x="163703" y="1554480"/>
                    <a:pt x="0" y="1390777"/>
                    <a:pt x="0" y="1188720"/>
                  </a:cubicBezTo>
                  <a:close/>
                </a:path>
              </a:pathLst>
            </a:custGeom>
            <a:solidFill>
              <a:srgbClr val="00A3E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899148" y="3044952"/>
            <a:ext cx="1165860" cy="1165860"/>
            <a:chOff x="0" y="0"/>
            <a:chExt cx="1554480" cy="155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55448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339328" y="3017520"/>
            <a:ext cx="3154680" cy="617220"/>
            <a:chOff x="0" y="0"/>
            <a:chExt cx="4206240" cy="82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2062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CSS3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899148" y="4311015"/>
            <a:ext cx="44577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Layout responsivo e identidade visual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974068" y="2674620"/>
            <a:ext cx="5143500" cy="2400300"/>
            <a:chOff x="0" y="0"/>
            <a:chExt cx="6858000" cy="3200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580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68580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6492240" y="0"/>
                  </a:lnTo>
                  <a:cubicBezTo>
                    <a:pt x="6694297" y="0"/>
                    <a:pt x="6858000" y="163703"/>
                    <a:pt x="6858000" y="365760"/>
                  </a:cubicBezTo>
                  <a:lnTo>
                    <a:pt x="6858000" y="2834640"/>
                  </a:lnTo>
                  <a:cubicBezTo>
                    <a:pt x="6858000" y="3036697"/>
                    <a:pt x="6694297" y="3200400"/>
                    <a:pt x="6492240" y="3200400"/>
                  </a:cubicBezTo>
                  <a:lnTo>
                    <a:pt x="365760" y="3200400"/>
                  </a:lnTo>
                  <a:cubicBezTo>
                    <a:pt x="163703" y="3200400"/>
                    <a:pt x="0" y="3036697"/>
                    <a:pt x="0" y="2834640"/>
                  </a:cubicBezTo>
                  <a:close/>
                </a:path>
              </a:pathLst>
            </a:custGeom>
            <a:solidFill>
              <a:srgbClr val="FFCD5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316968" y="3044952"/>
            <a:ext cx="1165860" cy="1165860"/>
            <a:chOff x="0" y="0"/>
            <a:chExt cx="1554480" cy="15544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188720" y="0"/>
                  </a:lnTo>
                  <a:cubicBezTo>
                    <a:pt x="1390777" y="0"/>
                    <a:pt x="1554480" y="163703"/>
                    <a:pt x="1554480" y="365760"/>
                  </a:cubicBezTo>
                  <a:lnTo>
                    <a:pt x="1554480" y="1188720"/>
                  </a:lnTo>
                  <a:cubicBezTo>
                    <a:pt x="1554480" y="1390777"/>
                    <a:pt x="1390777" y="1554480"/>
                    <a:pt x="1188720" y="1554480"/>
                  </a:cubicBezTo>
                  <a:lnTo>
                    <a:pt x="365760" y="1554480"/>
                  </a:lnTo>
                  <a:cubicBezTo>
                    <a:pt x="163703" y="1554480"/>
                    <a:pt x="0" y="1390777"/>
                    <a:pt x="0" y="1188720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316968" y="3044952"/>
            <a:ext cx="1165860" cy="1165860"/>
            <a:chOff x="0" y="0"/>
            <a:chExt cx="1554480" cy="1554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55448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757148" y="3017520"/>
            <a:ext cx="3154680" cy="617220"/>
            <a:chOff x="0" y="0"/>
            <a:chExt cx="4206240" cy="822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2062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JavaScript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316968" y="4311015"/>
            <a:ext cx="44577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Busca, filtros, galeria e checkout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138428" y="5417820"/>
            <a:ext cx="7543800" cy="1303020"/>
            <a:chOff x="0" y="0"/>
            <a:chExt cx="10058400" cy="1737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0584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005840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9729216" y="0"/>
                  </a:lnTo>
                  <a:cubicBezTo>
                    <a:pt x="9911080" y="0"/>
                    <a:pt x="10058400" y="147320"/>
                    <a:pt x="10058400" y="329184"/>
                  </a:cubicBezTo>
                  <a:lnTo>
                    <a:pt x="10058400" y="1408176"/>
                  </a:lnTo>
                  <a:cubicBezTo>
                    <a:pt x="10058400" y="1589913"/>
                    <a:pt x="9911080" y="1737360"/>
                    <a:pt x="9729216" y="1737360"/>
                  </a:cubicBezTo>
                  <a:lnTo>
                    <a:pt x="329184" y="1737360"/>
                  </a:lnTo>
                  <a:cubicBezTo>
                    <a:pt x="147320" y="1737360"/>
                    <a:pt x="0" y="1590040"/>
                    <a:pt x="0" y="1408176"/>
                  </a:cubicBezTo>
                  <a:close/>
                </a:path>
              </a:pathLst>
            </a:custGeom>
            <a:solidFill>
              <a:srgbClr val="EAF0F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40180" y="5417820"/>
            <a:ext cx="6995160" cy="1303020"/>
            <a:chOff x="0" y="0"/>
            <a:chExt cx="9326880" cy="1737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3268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603" r="0" b="-5460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932688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localStorage  </a:t>
              </a:r>
              <a:r>
                <a:rPr lang="en-US" sz="2100">
                  <a:solidFill>
                    <a:srgbClr val="2B2F3A"/>
                  </a:solidFill>
                  <a:latin typeface="Arial"/>
                  <a:ea typeface="Arial"/>
                  <a:cs typeface="Arial"/>
                  <a:sym typeface="Arial"/>
                </a:rPr>
                <a:t>guarda os itens do carrinho no próprio navegador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974455" y="5408295"/>
            <a:ext cx="8111490" cy="1322070"/>
            <a:chOff x="0" y="0"/>
            <a:chExt cx="10815320" cy="17627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8153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815320">
                  <a:moveTo>
                    <a:pt x="0" y="334010"/>
                  </a:moveTo>
                  <a:cubicBezTo>
                    <a:pt x="0" y="149479"/>
                    <a:pt x="149479" y="0"/>
                    <a:pt x="334010" y="0"/>
                  </a:cubicBezTo>
                  <a:lnTo>
                    <a:pt x="10481310" y="0"/>
                  </a:lnTo>
                  <a:cubicBezTo>
                    <a:pt x="10665714" y="0"/>
                    <a:pt x="10815320" y="149479"/>
                    <a:pt x="10815320" y="334010"/>
                  </a:cubicBezTo>
                  <a:lnTo>
                    <a:pt x="10815320" y="1428750"/>
                  </a:lnTo>
                  <a:cubicBezTo>
                    <a:pt x="10815320" y="1613154"/>
                    <a:pt x="10665841" y="1762760"/>
                    <a:pt x="10481310" y="1762760"/>
                  </a:cubicBezTo>
                  <a:lnTo>
                    <a:pt x="334010" y="1762760"/>
                  </a:lnTo>
                  <a:cubicBezTo>
                    <a:pt x="149479" y="1762760"/>
                    <a:pt x="0" y="1613281"/>
                    <a:pt x="0" y="1428750"/>
                  </a:cubicBezTo>
                  <a:close/>
                </a:path>
              </a:pathLst>
            </a:custGeom>
            <a:solidFill>
              <a:srgbClr val="FFF7E8"/>
            </a:solidFill>
            <a:ln w="19050" cap="sq">
              <a:solidFill>
                <a:srgbClr val="F1DDB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285732" y="5417820"/>
            <a:ext cx="7543800" cy="1303020"/>
            <a:chOff x="0" y="0"/>
            <a:chExt cx="10058400" cy="1737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0584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005840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524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Limite assumido  </a:t>
              </a:r>
              <a:r>
                <a:rPr lang="en-US" sz="2100">
                  <a:solidFill>
                    <a:srgbClr val="2B2F3A"/>
                  </a:solidFill>
                  <a:latin typeface="Arial"/>
                  <a:ea typeface="Arial"/>
                  <a:cs typeface="Arial"/>
                  <a:sym typeface="Arial"/>
                </a:rPr>
                <a:t>checkout simulado: sem backend, pedido real ou pagamento online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138428" y="7003542"/>
            <a:ext cx="5486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b="true" sz="1425" spc="180">
                <a:solidFill>
                  <a:srgbClr val="0078A8"/>
                </a:solidFill>
                <a:latin typeface="Arial Bold"/>
                <a:ea typeface="Arial Bold"/>
                <a:cs typeface="Arial Bold"/>
                <a:sym typeface="Arial Bold"/>
              </a:rPr>
              <a:t>FLUXO DE TRABALHO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138428" y="7475220"/>
            <a:ext cx="4663440" cy="1303020"/>
            <a:chOff x="0" y="0"/>
            <a:chExt cx="6217920" cy="17373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2179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2179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5888736" y="0"/>
                  </a:lnTo>
                  <a:cubicBezTo>
                    <a:pt x="6070600" y="0"/>
                    <a:pt x="6217920" y="147320"/>
                    <a:pt x="6217920" y="329184"/>
                  </a:cubicBezTo>
                  <a:lnTo>
                    <a:pt x="6217920" y="1408176"/>
                  </a:lnTo>
                  <a:cubicBezTo>
                    <a:pt x="6217920" y="1589913"/>
                    <a:pt x="6070600" y="1737360"/>
                    <a:pt x="5888736" y="1737360"/>
                  </a:cubicBezTo>
                  <a:lnTo>
                    <a:pt x="329184" y="1737360"/>
                  </a:lnTo>
                  <a:cubicBezTo>
                    <a:pt x="147320" y="1737360"/>
                    <a:pt x="0" y="1590040"/>
                    <a:pt x="0" y="1408176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481328" y="7543800"/>
            <a:ext cx="4114800" cy="548640"/>
            <a:chOff x="0" y="0"/>
            <a:chExt cx="54864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5486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11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TRELLO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481328" y="8036433"/>
            <a:ext cx="41148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DCEBFA"/>
                </a:solidFill>
                <a:latin typeface="Arial"/>
                <a:ea typeface="Arial"/>
                <a:cs typeface="Arial"/>
                <a:sym typeface="Arial"/>
              </a:rPr>
              <a:t>planejamento e backlog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5939028" y="7927848"/>
            <a:ext cx="301752" cy="411480"/>
            <a:chOff x="0" y="0"/>
            <a:chExt cx="402336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2336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">
                  <a:moveTo>
                    <a:pt x="0" y="0"/>
                  </a:moveTo>
                  <a:lnTo>
                    <a:pt x="201168" y="0"/>
                  </a:lnTo>
                  <a:lnTo>
                    <a:pt x="402336" y="274320"/>
                  </a:lnTo>
                  <a:lnTo>
                    <a:pt x="201168" y="548640"/>
                  </a:lnTo>
                  <a:lnTo>
                    <a:pt x="0" y="548640"/>
                  </a:lnTo>
                  <a:lnTo>
                    <a:pt x="201168" y="274320"/>
                  </a:ln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350508" y="7475220"/>
            <a:ext cx="4663440" cy="1303020"/>
            <a:chOff x="0" y="0"/>
            <a:chExt cx="6217920" cy="1737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2179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2179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5888736" y="0"/>
                  </a:lnTo>
                  <a:cubicBezTo>
                    <a:pt x="6070600" y="0"/>
                    <a:pt x="6217920" y="147320"/>
                    <a:pt x="6217920" y="329184"/>
                  </a:cubicBezTo>
                  <a:lnTo>
                    <a:pt x="6217920" y="1408176"/>
                  </a:lnTo>
                  <a:cubicBezTo>
                    <a:pt x="6217920" y="1589913"/>
                    <a:pt x="6070600" y="1737360"/>
                    <a:pt x="5888736" y="1737360"/>
                  </a:cubicBezTo>
                  <a:lnTo>
                    <a:pt x="329184" y="1737360"/>
                  </a:lnTo>
                  <a:cubicBezTo>
                    <a:pt x="147320" y="1737360"/>
                    <a:pt x="0" y="1590040"/>
                    <a:pt x="0" y="1408176"/>
                  </a:cubicBezTo>
                  <a:close/>
                </a:path>
              </a:pathLst>
            </a:custGeom>
            <a:solidFill>
              <a:srgbClr val="272F6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693408" y="7543800"/>
            <a:ext cx="4114800" cy="548640"/>
            <a:chOff x="0" y="0"/>
            <a:chExt cx="548640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5486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11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6693408" y="8036433"/>
            <a:ext cx="41148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DCEBFA"/>
                </a:solidFill>
                <a:latin typeface="Arial"/>
                <a:ea typeface="Arial"/>
                <a:cs typeface="Arial"/>
                <a:sym typeface="Arial"/>
              </a:rPr>
              <a:t>código e histórico de versões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1151108" y="7927848"/>
            <a:ext cx="301752" cy="411480"/>
            <a:chOff x="0" y="0"/>
            <a:chExt cx="402336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02336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">
                  <a:moveTo>
                    <a:pt x="0" y="0"/>
                  </a:moveTo>
                  <a:lnTo>
                    <a:pt x="201168" y="0"/>
                  </a:lnTo>
                  <a:lnTo>
                    <a:pt x="402336" y="274320"/>
                  </a:lnTo>
                  <a:lnTo>
                    <a:pt x="201168" y="548640"/>
                  </a:lnTo>
                  <a:lnTo>
                    <a:pt x="0" y="548640"/>
                  </a:lnTo>
                  <a:lnTo>
                    <a:pt x="201168" y="274320"/>
                  </a:ln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62588" y="7475220"/>
            <a:ext cx="4663440" cy="1303020"/>
            <a:chOff x="0" y="0"/>
            <a:chExt cx="6217920" cy="1737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2179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2179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5888736" y="0"/>
                  </a:lnTo>
                  <a:cubicBezTo>
                    <a:pt x="6070600" y="0"/>
                    <a:pt x="6217920" y="147320"/>
                    <a:pt x="6217920" y="329184"/>
                  </a:cubicBezTo>
                  <a:lnTo>
                    <a:pt x="6217920" y="1408176"/>
                  </a:lnTo>
                  <a:cubicBezTo>
                    <a:pt x="6217920" y="1589913"/>
                    <a:pt x="6070600" y="1737360"/>
                    <a:pt x="5888736" y="1737360"/>
                  </a:cubicBezTo>
                  <a:lnTo>
                    <a:pt x="329184" y="1737360"/>
                  </a:lnTo>
                  <a:cubicBezTo>
                    <a:pt x="147320" y="1737360"/>
                    <a:pt x="0" y="1590040"/>
                    <a:pt x="0" y="1408176"/>
                  </a:cubicBezTo>
                  <a:close/>
                </a:path>
              </a:pathLst>
            </a:custGeom>
            <a:solidFill>
              <a:srgbClr val="0078A8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905488" y="7543800"/>
            <a:ext cx="4114800" cy="548640"/>
            <a:chOff x="0" y="0"/>
            <a:chExt cx="548640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5486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11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VERCEL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1905488" y="8036433"/>
            <a:ext cx="41148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DCEBFA"/>
                </a:solidFill>
                <a:latin typeface="Arial"/>
                <a:ea typeface="Arial"/>
                <a:cs typeface="Arial"/>
                <a:sym typeface="Arial"/>
              </a:rPr>
              <a:t>site no ar a cada atualização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88813" y="8893950"/>
            <a:ext cx="1728187" cy="1326118"/>
            <a:chOff x="0" y="0"/>
            <a:chExt cx="2304250" cy="1768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4288" cy="1768094"/>
            </a:xfrm>
            <a:custGeom>
              <a:avLst/>
              <a:gdLst/>
              <a:ahLst/>
              <a:cxnLst/>
              <a:rect r="r" b="b" t="t" l="l"/>
              <a:pathLst>
                <a:path h="1768094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1768094"/>
                  </a:lnTo>
                  <a:lnTo>
                    <a:pt x="0" y="1768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26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441680" y="57607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  <a:moveTo>
                    <a:pt x="652907" y="3840480"/>
                  </a:moveTo>
                  <a:cubicBezTo>
                    <a:pt x="652907" y="5600954"/>
                    <a:pt x="2080006" y="7028053"/>
                    <a:pt x="3840480" y="7028053"/>
                  </a:cubicBezTo>
                  <a:cubicBezTo>
                    <a:pt x="5600954" y="7028053"/>
                    <a:pt x="7028053" y="5600954"/>
                    <a:pt x="7028053" y="3840480"/>
                  </a:cubicBezTo>
                  <a:cubicBezTo>
                    <a:pt x="7028053" y="2080006"/>
                    <a:pt x="5600954" y="652907"/>
                    <a:pt x="3840480" y="652907"/>
                  </a:cubicBezTo>
                  <a:cubicBezTo>
                    <a:pt x="2080006" y="652907"/>
                    <a:pt x="652907" y="2080006"/>
                    <a:pt x="652907" y="3840480"/>
                  </a:cubicBezTo>
                  <a:close/>
                </a:path>
              </a:pathLst>
            </a:custGeom>
            <a:solidFill>
              <a:srgbClr val="00A3E0">
                <a:alpha val="2353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3520" y="2057400"/>
            <a:ext cx="274320" cy="274320"/>
            <a:chOff x="0" y="0"/>
            <a:chExt cx="365760" cy="365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8428" y="493776"/>
            <a:ext cx="3497580" cy="411480"/>
            <a:chOff x="0" y="0"/>
            <a:chExt cx="466344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3440" cy="548640"/>
            </a:xfrm>
            <a:custGeom>
              <a:avLst/>
              <a:gdLst/>
              <a:ahLst/>
              <a:cxnLst/>
              <a:rect r="r" b="b" t="t" l="l"/>
              <a:pathLst>
                <a:path h="548640" w="46634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389120" y="0"/>
                  </a:lnTo>
                  <a:cubicBezTo>
                    <a:pt x="4540631" y="0"/>
                    <a:pt x="4663440" y="122809"/>
                    <a:pt x="4663440" y="274320"/>
                  </a:cubicBezTo>
                  <a:cubicBezTo>
                    <a:pt x="4663440" y="425831"/>
                    <a:pt x="4540631" y="548640"/>
                    <a:pt x="438912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CEFF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663440" cy="55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80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  ·  PRODUTO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8428" y="987552"/>
            <a:ext cx="14127480" cy="987552"/>
            <a:chOff x="0" y="0"/>
            <a:chExt cx="1883664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366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744" r="0" b="-2287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836640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produto: seis páginas integradas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885" y="2417445"/>
            <a:ext cx="16962375" cy="2620518"/>
            <a:chOff x="0" y="0"/>
            <a:chExt cx="4467457" cy="6901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67457" cy="690178"/>
            </a:xfrm>
            <a:custGeom>
              <a:avLst/>
              <a:gdLst/>
              <a:ahLst/>
              <a:cxnLst/>
              <a:rect r="r" b="b" t="t" l="l"/>
              <a:pathLst>
                <a:path h="690178" w="4467457">
                  <a:moveTo>
                    <a:pt x="7759" y="0"/>
                  </a:moveTo>
                  <a:lnTo>
                    <a:pt x="4459698" y="0"/>
                  </a:lnTo>
                  <a:cubicBezTo>
                    <a:pt x="4463983" y="0"/>
                    <a:pt x="4467457" y="3474"/>
                    <a:pt x="4467457" y="7759"/>
                  </a:cubicBezTo>
                  <a:lnTo>
                    <a:pt x="4467457" y="682419"/>
                  </a:lnTo>
                  <a:cubicBezTo>
                    <a:pt x="4467457" y="684476"/>
                    <a:pt x="4466639" y="686450"/>
                    <a:pt x="4465184" y="687905"/>
                  </a:cubicBezTo>
                  <a:cubicBezTo>
                    <a:pt x="4463729" y="689360"/>
                    <a:pt x="4461756" y="690178"/>
                    <a:pt x="4459698" y="690178"/>
                  </a:cubicBezTo>
                  <a:lnTo>
                    <a:pt x="7759" y="690178"/>
                  </a:lnTo>
                  <a:cubicBezTo>
                    <a:pt x="3474" y="690178"/>
                    <a:pt x="0" y="686704"/>
                    <a:pt x="0" y="682419"/>
                  </a:cubicBezTo>
                  <a:lnTo>
                    <a:pt x="0" y="7759"/>
                  </a:lnTo>
                  <a:cubicBezTo>
                    <a:pt x="0" y="3474"/>
                    <a:pt x="3474" y="0"/>
                    <a:pt x="7759" y="0"/>
                  </a:cubicBezTo>
                  <a:close/>
                </a:path>
              </a:pathLst>
            </a:custGeom>
            <a:solidFill>
              <a:srgbClr val="6B4E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467457" cy="699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7067" y="5939409"/>
            <a:ext cx="16962375" cy="2620518"/>
            <a:chOff x="0" y="0"/>
            <a:chExt cx="4467457" cy="6901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67457" cy="690178"/>
            </a:xfrm>
            <a:custGeom>
              <a:avLst/>
              <a:gdLst/>
              <a:ahLst/>
              <a:cxnLst/>
              <a:rect r="r" b="b" t="t" l="l"/>
              <a:pathLst>
                <a:path h="690178" w="4467457">
                  <a:moveTo>
                    <a:pt x="7759" y="0"/>
                  </a:moveTo>
                  <a:lnTo>
                    <a:pt x="4459698" y="0"/>
                  </a:lnTo>
                  <a:cubicBezTo>
                    <a:pt x="4463983" y="0"/>
                    <a:pt x="4467457" y="3474"/>
                    <a:pt x="4467457" y="7759"/>
                  </a:cubicBezTo>
                  <a:lnTo>
                    <a:pt x="4467457" y="682419"/>
                  </a:lnTo>
                  <a:cubicBezTo>
                    <a:pt x="4467457" y="684476"/>
                    <a:pt x="4466639" y="686450"/>
                    <a:pt x="4465184" y="687905"/>
                  </a:cubicBezTo>
                  <a:cubicBezTo>
                    <a:pt x="4463729" y="689360"/>
                    <a:pt x="4461756" y="690178"/>
                    <a:pt x="4459698" y="690178"/>
                  </a:cubicBezTo>
                  <a:lnTo>
                    <a:pt x="7759" y="690178"/>
                  </a:lnTo>
                  <a:cubicBezTo>
                    <a:pt x="3474" y="690178"/>
                    <a:pt x="0" y="686704"/>
                    <a:pt x="0" y="682419"/>
                  </a:cubicBezTo>
                  <a:lnTo>
                    <a:pt x="0" y="7759"/>
                  </a:lnTo>
                  <a:cubicBezTo>
                    <a:pt x="0" y="3474"/>
                    <a:pt x="3474" y="0"/>
                    <a:pt x="7759" y="0"/>
                  </a:cubicBezTo>
                  <a:close/>
                </a:path>
              </a:pathLst>
            </a:custGeom>
            <a:solidFill>
              <a:srgbClr val="6B4E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467457" cy="699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38428" y="2575560"/>
            <a:ext cx="5143500" cy="2304288"/>
            <a:chOff x="0" y="0"/>
            <a:chExt cx="6858000" cy="3072384"/>
          </a:xfrm>
        </p:grpSpPr>
        <p:sp>
          <p:nvSpPr>
            <p:cNvPr name="Freeform 23" id="23" descr="Captura da página Home do site"/>
            <p:cNvSpPr/>
            <p:nvPr/>
          </p:nvSpPr>
          <p:spPr>
            <a:xfrm flipH="false" flipV="false" rot="0">
              <a:off x="0" y="0"/>
              <a:ext cx="6858000" cy="3072384"/>
            </a:xfrm>
            <a:custGeom>
              <a:avLst/>
              <a:gdLst/>
              <a:ahLst/>
              <a:cxnLst/>
              <a:rect r="r" b="b" t="t" l="l"/>
              <a:pathLst>
                <a:path h="3072384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072384"/>
                  </a:lnTo>
                  <a:lnTo>
                    <a:pt x="0" y="307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" t="0" r="-24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56248" y="2575560"/>
            <a:ext cx="5143500" cy="2304288"/>
            <a:chOff x="0" y="0"/>
            <a:chExt cx="6858000" cy="3072384"/>
          </a:xfrm>
        </p:grpSpPr>
        <p:sp>
          <p:nvSpPr>
            <p:cNvPr name="Freeform 25" id="25" descr="Captura da página Cardápio do site"/>
            <p:cNvSpPr/>
            <p:nvPr/>
          </p:nvSpPr>
          <p:spPr>
            <a:xfrm flipH="false" flipV="false" rot="0">
              <a:off x="0" y="0"/>
              <a:ext cx="6858000" cy="3072384"/>
            </a:xfrm>
            <a:custGeom>
              <a:avLst/>
              <a:gdLst/>
              <a:ahLst/>
              <a:cxnLst/>
              <a:rect r="r" b="b" t="t" l="l"/>
              <a:pathLst>
                <a:path h="3072384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072384"/>
                  </a:lnTo>
                  <a:lnTo>
                    <a:pt x="0" y="307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4" t="0" r="-24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974068" y="2575560"/>
            <a:ext cx="5143500" cy="2304288"/>
            <a:chOff x="0" y="0"/>
            <a:chExt cx="6858000" cy="3072384"/>
          </a:xfrm>
        </p:grpSpPr>
        <p:sp>
          <p:nvSpPr>
            <p:cNvPr name="Freeform 27" id="27" descr="Captura da página Carrinho do site"/>
            <p:cNvSpPr/>
            <p:nvPr/>
          </p:nvSpPr>
          <p:spPr>
            <a:xfrm flipH="false" flipV="false" rot="0">
              <a:off x="0" y="0"/>
              <a:ext cx="6858000" cy="3072384"/>
            </a:xfrm>
            <a:custGeom>
              <a:avLst/>
              <a:gdLst/>
              <a:ahLst/>
              <a:cxnLst/>
              <a:rect r="r" b="b" t="t" l="l"/>
              <a:pathLst>
                <a:path h="3072384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072384"/>
                  </a:lnTo>
                  <a:lnTo>
                    <a:pt x="0" y="307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4" t="0" r="-24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38428" y="6108192"/>
            <a:ext cx="5143500" cy="2304288"/>
            <a:chOff x="0" y="0"/>
            <a:chExt cx="6858000" cy="3072384"/>
          </a:xfrm>
        </p:grpSpPr>
        <p:sp>
          <p:nvSpPr>
            <p:cNvPr name="Freeform 29" id="29" descr="Captura da página Nossa História do site"/>
            <p:cNvSpPr/>
            <p:nvPr/>
          </p:nvSpPr>
          <p:spPr>
            <a:xfrm flipH="false" flipV="false" rot="0">
              <a:off x="0" y="0"/>
              <a:ext cx="6858000" cy="3072384"/>
            </a:xfrm>
            <a:custGeom>
              <a:avLst/>
              <a:gdLst/>
              <a:ahLst/>
              <a:cxnLst/>
              <a:rect r="r" b="b" t="t" l="l"/>
              <a:pathLst>
                <a:path h="3072384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072384"/>
                  </a:lnTo>
                  <a:lnTo>
                    <a:pt x="0" y="307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4" t="0" r="-24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56248" y="6108192"/>
            <a:ext cx="5143500" cy="2304288"/>
            <a:chOff x="0" y="0"/>
            <a:chExt cx="6858000" cy="3072384"/>
          </a:xfrm>
        </p:grpSpPr>
        <p:sp>
          <p:nvSpPr>
            <p:cNvPr name="Freeform 31" id="31" descr="Captura da página Galeria do site"/>
            <p:cNvSpPr/>
            <p:nvPr/>
          </p:nvSpPr>
          <p:spPr>
            <a:xfrm flipH="false" flipV="false" rot="0">
              <a:off x="0" y="0"/>
              <a:ext cx="6858000" cy="3072384"/>
            </a:xfrm>
            <a:custGeom>
              <a:avLst/>
              <a:gdLst/>
              <a:ahLst/>
              <a:cxnLst/>
              <a:rect r="r" b="b" t="t" l="l"/>
              <a:pathLst>
                <a:path h="3072384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072384"/>
                  </a:lnTo>
                  <a:lnTo>
                    <a:pt x="0" y="307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4" t="0" r="-24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974068" y="6108192"/>
            <a:ext cx="5143500" cy="2304288"/>
            <a:chOff x="0" y="0"/>
            <a:chExt cx="6858000" cy="3072384"/>
          </a:xfrm>
        </p:grpSpPr>
        <p:sp>
          <p:nvSpPr>
            <p:cNvPr name="Freeform 33" id="33" descr="Captura da página Contato do site"/>
            <p:cNvSpPr/>
            <p:nvPr/>
          </p:nvSpPr>
          <p:spPr>
            <a:xfrm flipH="false" flipV="false" rot="0">
              <a:off x="0" y="0"/>
              <a:ext cx="6858000" cy="3072384"/>
            </a:xfrm>
            <a:custGeom>
              <a:avLst/>
              <a:gdLst/>
              <a:ahLst/>
              <a:cxnLst/>
              <a:rect r="r" b="b" t="t" l="l"/>
              <a:pathLst>
                <a:path h="3072384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072384"/>
                  </a:lnTo>
                  <a:lnTo>
                    <a:pt x="0" y="307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4" t="0" r="-24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38428" y="1942338"/>
            <a:ext cx="1426464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Navegação completa entre conteúdo institucional, cardápio e interações.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704820" y="529590"/>
            <a:ext cx="130302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14447A"/>
                </a:solidFill>
                <a:latin typeface="Arial Bold"/>
                <a:ea typeface="Arial Bold"/>
                <a:cs typeface="Arial Bold"/>
                <a:sym typeface="Arial Bold"/>
              </a:rPr>
              <a:t>08/12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38428" y="9505950"/>
            <a:ext cx="12344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B7380"/>
                </a:solidFill>
                <a:latin typeface="Arial"/>
                <a:ea typeface="Arial"/>
                <a:cs typeface="Arial"/>
                <a:sym typeface="Arial"/>
              </a:rPr>
              <a:t>PASTELARIA DA SOGRA  ·  WEB DESIGN  ·  AC2 2026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8428" y="5088636"/>
            <a:ext cx="51435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59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HOME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38428" y="5449443"/>
            <a:ext cx="514350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Destaques, avaliações e localização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56248" y="5088636"/>
            <a:ext cx="51435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59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CARDÁPIO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556248" y="5449443"/>
            <a:ext cx="514350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24 produtos, filtros e pesquisa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74068" y="5088636"/>
            <a:ext cx="51435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59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CARRINHO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74068" y="5449443"/>
            <a:ext cx="514350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Quantidades e checkout simulado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8428" y="8636127"/>
            <a:ext cx="51435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59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NOSSA HISTÓRIA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38428" y="8996934"/>
            <a:ext cx="514350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Tradição e diferenciais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556248" y="8636127"/>
            <a:ext cx="51435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59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GALERIA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556248" y="8996934"/>
            <a:ext cx="514350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16 fotos, filtros e ampliação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974068" y="8636127"/>
            <a:ext cx="51435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59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CONTATO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74068" y="8996934"/>
            <a:ext cx="514350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Mapa, rota e canais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88813" y="8893950"/>
            <a:ext cx="1728187" cy="1326118"/>
            <a:chOff x="0" y="0"/>
            <a:chExt cx="2304250" cy="1768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4288" cy="1768094"/>
            </a:xfrm>
            <a:custGeom>
              <a:avLst/>
              <a:gdLst/>
              <a:ahLst/>
              <a:cxnLst/>
              <a:rect r="r" b="b" t="t" l="l"/>
              <a:pathLst>
                <a:path h="1768094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1768094"/>
                  </a:lnTo>
                  <a:lnTo>
                    <a:pt x="0" y="1768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26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578840" y="-1920240"/>
            <a:ext cx="5486400" cy="5486400"/>
            <a:chOff x="0" y="0"/>
            <a:chExt cx="7315200" cy="731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  <a:moveTo>
                    <a:pt x="621792" y="3657600"/>
                  </a:moveTo>
                  <a:cubicBezTo>
                    <a:pt x="621792" y="5334254"/>
                    <a:pt x="1980946" y="6693408"/>
                    <a:pt x="3657600" y="6693408"/>
                  </a:cubicBezTo>
                  <a:cubicBezTo>
                    <a:pt x="5334254" y="6693408"/>
                    <a:pt x="6693408" y="5334254"/>
                    <a:pt x="6693408" y="3657600"/>
                  </a:cubicBezTo>
                  <a:cubicBezTo>
                    <a:pt x="6693408" y="1980946"/>
                    <a:pt x="5334254" y="621792"/>
                    <a:pt x="3657600" y="621792"/>
                  </a:cubicBezTo>
                  <a:cubicBezTo>
                    <a:pt x="1980946" y="621792"/>
                    <a:pt x="621792" y="1980946"/>
                    <a:pt x="621792" y="3657600"/>
                  </a:cubicBezTo>
                  <a:close/>
                </a:path>
              </a:pathLst>
            </a:custGeom>
            <a:solidFill>
              <a:srgbClr val="00A3E0">
                <a:alpha val="2353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3520" y="2057400"/>
            <a:ext cx="274320" cy="274320"/>
            <a:chOff x="0" y="0"/>
            <a:chExt cx="365760" cy="365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8428" y="493776"/>
            <a:ext cx="3497580" cy="411480"/>
            <a:chOff x="0" y="0"/>
            <a:chExt cx="466344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3440" cy="548640"/>
            </a:xfrm>
            <a:custGeom>
              <a:avLst/>
              <a:gdLst/>
              <a:ahLst/>
              <a:cxnLst/>
              <a:rect r="r" b="b" t="t" l="l"/>
              <a:pathLst>
                <a:path h="548640" w="46634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389120" y="0"/>
                  </a:lnTo>
                  <a:cubicBezTo>
                    <a:pt x="4540631" y="0"/>
                    <a:pt x="4663440" y="122809"/>
                    <a:pt x="4663440" y="274320"/>
                  </a:cubicBezTo>
                  <a:cubicBezTo>
                    <a:pt x="4663440" y="425831"/>
                    <a:pt x="4540631" y="548640"/>
                    <a:pt x="438912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CEFF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663440" cy="55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80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08  ·  DEMONSTRAÇÃO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8428" y="987552"/>
            <a:ext cx="14127480" cy="987552"/>
            <a:chOff x="0" y="0"/>
            <a:chExt cx="1883664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366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744" r="0" b="-2287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836640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Demonstração do fluxo ao vivo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38428" y="1942338"/>
            <a:ext cx="1426464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A versão hospedada na Vercel será explorada diretamente no navegador.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04820" y="529590"/>
            <a:ext cx="130302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14447A"/>
                </a:solidFill>
                <a:latin typeface="Arial Bold"/>
                <a:ea typeface="Arial Bold"/>
                <a:cs typeface="Arial Bold"/>
                <a:sym typeface="Arial Bold"/>
              </a:rPr>
              <a:t>09/12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8428" y="9358503"/>
            <a:ext cx="12344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B7380"/>
                </a:solidFill>
                <a:latin typeface="Arial"/>
                <a:ea typeface="Arial"/>
                <a:cs typeface="Arial"/>
                <a:sym typeface="Arial"/>
              </a:rPr>
              <a:t>PASTELARIA DA SOGRA  ·  WEB DESIGN  ·  AC2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55648" y="3223260"/>
            <a:ext cx="68580" cy="4869180"/>
            <a:chOff x="0" y="0"/>
            <a:chExt cx="91440" cy="6492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" cy="6492240"/>
            </a:xfrm>
            <a:custGeom>
              <a:avLst/>
              <a:gdLst/>
              <a:ahLst/>
              <a:cxnLst/>
              <a:rect r="r" b="b" t="t" l="l"/>
              <a:pathLst>
                <a:path h="6492240" w="9144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54864" y="0"/>
                  </a:lnTo>
                  <a:cubicBezTo>
                    <a:pt x="75057" y="0"/>
                    <a:pt x="91440" y="16383"/>
                    <a:pt x="91440" y="36576"/>
                  </a:cubicBezTo>
                  <a:lnTo>
                    <a:pt x="91440" y="6455664"/>
                  </a:lnTo>
                  <a:cubicBezTo>
                    <a:pt x="91440" y="6475857"/>
                    <a:pt x="75057" y="6492240"/>
                    <a:pt x="54864" y="6492240"/>
                  </a:cubicBezTo>
                  <a:lnTo>
                    <a:pt x="36576" y="6492240"/>
                  </a:lnTo>
                  <a:cubicBezTo>
                    <a:pt x="16383" y="6492240"/>
                    <a:pt x="0" y="6475857"/>
                    <a:pt x="0" y="6455664"/>
                  </a:cubicBezTo>
                  <a:close/>
                </a:path>
              </a:pathLst>
            </a:custGeom>
            <a:solidFill>
              <a:srgbClr val="D5DCE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12748" y="2811780"/>
            <a:ext cx="754380" cy="754380"/>
            <a:chOff x="0" y="0"/>
            <a:chExt cx="10058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12748" y="2811780"/>
            <a:ext cx="754380" cy="754380"/>
            <a:chOff x="0" y="0"/>
            <a:chExt cx="100584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606040" y="2751582"/>
            <a:ext cx="7132320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Cardápio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06040" y="3213735"/>
            <a:ext cx="713232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Filtrar e adicionar dois produtos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12748" y="4046220"/>
            <a:ext cx="754380" cy="754380"/>
            <a:chOff x="0" y="0"/>
            <a:chExt cx="100584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12748" y="4046220"/>
            <a:ext cx="754380" cy="754380"/>
            <a:chOff x="0" y="0"/>
            <a:chExt cx="10058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606040" y="3986022"/>
            <a:ext cx="7132320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Carrinho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06040" y="4448175"/>
            <a:ext cx="713232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Conferir quantidade e total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12748" y="5280660"/>
            <a:ext cx="754380" cy="754380"/>
            <a:chOff x="0" y="0"/>
            <a:chExt cx="100584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12748" y="5280660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606040" y="5220462"/>
            <a:ext cx="7132320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Usabilidade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606040" y="5682615"/>
            <a:ext cx="713232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Atalho para finalizar a simulação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412748" y="6515100"/>
            <a:ext cx="754380" cy="754380"/>
            <a:chOff x="0" y="0"/>
            <a:chExt cx="100584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12748" y="6515100"/>
            <a:ext cx="754380" cy="754380"/>
            <a:chOff x="0" y="0"/>
            <a:chExt cx="1005840" cy="1005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606040" y="6454902"/>
            <a:ext cx="7132320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Validação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606040" y="6917055"/>
            <a:ext cx="713232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Telefone incorreto e mensagem junto ao campo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412748" y="7749540"/>
            <a:ext cx="754380" cy="754380"/>
            <a:chOff x="0" y="0"/>
            <a:chExt cx="1005840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B5241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12748" y="7749540"/>
            <a:ext cx="754380" cy="754380"/>
            <a:chOff x="0" y="0"/>
            <a:chExt cx="100584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606040" y="7689342"/>
            <a:ext cx="7132320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Resultado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606040" y="8151495"/>
            <a:ext cx="713232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Confirmação fictícia e galeria interativa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424160" y="2674620"/>
            <a:ext cx="6583680" cy="6172200"/>
            <a:chOff x="0" y="0"/>
            <a:chExt cx="8778240" cy="822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0" cy="8229600"/>
            </a:xfrm>
            <a:custGeom>
              <a:avLst/>
              <a:gdLst/>
              <a:ahLst/>
              <a:cxnLst/>
              <a:rect r="r" b="b" t="t" l="l"/>
              <a:pathLst>
                <a:path h="8229600" w="8778240">
                  <a:moveTo>
                    <a:pt x="0" y="475361"/>
                  </a:moveTo>
                  <a:cubicBezTo>
                    <a:pt x="0" y="212852"/>
                    <a:pt x="212852" y="0"/>
                    <a:pt x="475361" y="0"/>
                  </a:cubicBezTo>
                  <a:lnTo>
                    <a:pt x="8302879" y="0"/>
                  </a:lnTo>
                  <a:cubicBezTo>
                    <a:pt x="8565388" y="0"/>
                    <a:pt x="8778240" y="212852"/>
                    <a:pt x="8778240" y="475361"/>
                  </a:cubicBezTo>
                  <a:lnTo>
                    <a:pt x="8778240" y="7754239"/>
                  </a:lnTo>
                  <a:cubicBezTo>
                    <a:pt x="8778240" y="8016748"/>
                    <a:pt x="8565388" y="8229600"/>
                    <a:pt x="8302879" y="8229600"/>
                  </a:cubicBezTo>
                  <a:lnTo>
                    <a:pt x="475361" y="8229600"/>
                  </a:lnTo>
                  <a:cubicBezTo>
                    <a:pt x="212852" y="8229600"/>
                    <a:pt x="0" y="8016748"/>
                    <a:pt x="0" y="7754239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727180" y="3017520"/>
            <a:ext cx="3977640" cy="3977640"/>
            <a:chOff x="0" y="0"/>
            <a:chExt cx="5303520" cy="5303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035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5303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4937760" y="0"/>
                  </a:lnTo>
                  <a:cubicBezTo>
                    <a:pt x="5139690" y="0"/>
                    <a:pt x="5303520" y="163703"/>
                    <a:pt x="5303520" y="365760"/>
                  </a:cubicBezTo>
                  <a:lnTo>
                    <a:pt x="5303520" y="4937760"/>
                  </a:lnTo>
                  <a:cubicBezTo>
                    <a:pt x="5303520" y="5139690"/>
                    <a:pt x="5139817" y="5303520"/>
                    <a:pt x="4937760" y="5303520"/>
                  </a:cubicBezTo>
                  <a:lnTo>
                    <a:pt x="365760" y="5303520"/>
                  </a:lnTo>
                  <a:cubicBezTo>
                    <a:pt x="163703" y="5303520"/>
                    <a:pt x="0" y="5139817"/>
                    <a:pt x="0" y="4937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932920" y="3223260"/>
            <a:ext cx="3566160" cy="3566160"/>
            <a:chOff x="0" y="0"/>
            <a:chExt cx="4754880" cy="4754880"/>
          </a:xfrm>
        </p:grpSpPr>
        <p:sp>
          <p:nvSpPr>
            <p:cNvPr name="Freeform 61" id="61" descr="QR Code para acessar o site publicado"/>
            <p:cNvSpPr/>
            <p:nvPr/>
          </p:nvSpPr>
          <p:spPr>
            <a:xfrm flipH="false" flipV="false" rot="0">
              <a:off x="0" y="0"/>
              <a:ext cx="47548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4754880"/>
                  </a:lnTo>
                  <a:lnTo>
                    <a:pt x="0" y="4754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0424160" y="7122795"/>
            <a:ext cx="658368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Acesse o site agora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424160" y="7593330"/>
            <a:ext cx="65836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9FD8F2"/>
                </a:solidFill>
                <a:latin typeface="Arial"/>
                <a:ea typeface="Arial"/>
                <a:cs typeface="Arial"/>
                <a:sym typeface="Arial"/>
              </a:rPr>
              <a:t>projeto-web-pastelaria-da-sogra.vercel.app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1109960" y="8161020"/>
            <a:ext cx="5212080" cy="466344"/>
            <a:chOff x="0" y="0"/>
            <a:chExt cx="6949440" cy="6217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949439" cy="621792"/>
            </a:xfrm>
            <a:custGeom>
              <a:avLst/>
              <a:gdLst/>
              <a:ahLst/>
              <a:cxnLst/>
              <a:rect r="r" b="b" t="t" l="l"/>
              <a:pathLst>
                <a:path h="621792" w="6949439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6638544" y="0"/>
                  </a:lnTo>
                  <a:cubicBezTo>
                    <a:pt x="6810248" y="0"/>
                    <a:pt x="6949439" y="139192"/>
                    <a:pt x="6949439" y="310896"/>
                  </a:cubicBezTo>
                  <a:cubicBezTo>
                    <a:pt x="6949439" y="482600"/>
                    <a:pt x="6810248" y="621792"/>
                    <a:pt x="663854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949440" cy="640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  <a:r>
                <a:rPr lang="en-US" b="true" sz="1425" spc="90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SEM PEDIDOS REAIS  ·  DADOS FICTÍCIOS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88813" y="8893950"/>
            <a:ext cx="1728187" cy="1326118"/>
            <a:chOff x="0" y="0"/>
            <a:chExt cx="2304250" cy="1768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4288" cy="1768094"/>
            </a:xfrm>
            <a:custGeom>
              <a:avLst/>
              <a:gdLst/>
              <a:ahLst/>
              <a:cxnLst/>
              <a:rect r="r" b="b" t="t" l="l"/>
              <a:pathLst>
                <a:path h="1768094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1768094"/>
                  </a:lnTo>
                  <a:lnTo>
                    <a:pt x="0" y="1768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26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853160" y="-192024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  <a:moveTo>
                    <a:pt x="652907" y="3840480"/>
                  </a:moveTo>
                  <a:cubicBezTo>
                    <a:pt x="652907" y="5600954"/>
                    <a:pt x="2080006" y="7028053"/>
                    <a:pt x="3840480" y="7028053"/>
                  </a:cubicBezTo>
                  <a:cubicBezTo>
                    <a:pt x="5600954" y="7028053"/>
                    <a:pt x="7028053" y="5600954"/>
                    <a:pt x="7028053" y="3840480"/>
                  </a:cubicBezTo>
                  <a:cubicBezTo>
                    <a:pt x="7028053" y="2080006"/>
                    <a:pt x="5600954" y="652907"/>
                    <a:pt x="3840480" y="652907"/>
                  </a:cubicBezTo>
                  <a:cubicBezTo>
                    <a:pt x="2080006" y="652907"/>
                    <a:pt x="652907" y="2080006"/>
                    <a:pt x="652907" y="3840480"/>
                  </a:cubicBezTo>
                  <a:close/>
                </a:path>
              </a:pathLst>
            </a:custGeom>
            <a:solidFill>
              <a:srgbClr val="00A3E0">
                <a:alpha val="2353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3520" y="2125980"/>
            <a:ext cx="274320" cy="274320"/>
            <a:chOff x="0" y="0"/>
            <a:chExt cx="365760" cy="365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8428" y="493776"/>
            <a:ext cx="3497580" cy="411480"/>
            <a:chOff x="0" y="0"/>
            <a:chExt cx="466344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3440" cy="548640"/>
            </a:xfrm>
            <a:custGeom>
              <a:avLst/>
              <a:gdLst/>
              <a:ahLst/>
              <a:cxnLst/>
              <a:rect r="r" b="b" t="t" l="l"/>
              <a:pathLst>
                <a:path h="548640" w="46634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389120" y="0"/>
                  </a:lnTo>
                  <a:cubicBezTo>
                    <a:pt x="4540631" y="0"/>
                    <a:pt x="4663440" y="122809"/>
                    <a:pt x="4663440" y="274320"/>
                  </a:cubicBezTo>
                  <a:cubicBezTo>
                    <a:pt x="4663440" y="425831"/>
                    <a:pt x="4540631" y="548640"/>
                    <a:pt x="438912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CEFF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663440" cy="55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80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09  ·  QUALIDADE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8428" y="987552"/>
            <a:ext cx="14127480" cy="987552"/>
            <a:chOff x="0" y="0"/>
            <a:chExt cx="1883664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366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744" r="0" b="-2287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836640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Testes, correções e qualidade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38428" y="1942338"/>
            <a:ext cx="1426464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Auditoria funcional e medições Lighthouse orientaram as melhorias finais.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04820" y="529590"/>
            <a:ext cx="130302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14447A"/>
                </a:solidFill>
                <a:latin typeface="Arial Bold"/>
                <a:ea typeface="Arial Bold"/>
                <a:cs typeface="Arial Bold"/>
                <a:sym typeface="Arial Bold"/>
              </a:rPr>
              <a:t>10/12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8428" y="9358503"/>
            <a:ext cx="12344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B7380"/>
                </a:solidFill>
                <a:latin typeface="Arial"/>
                <a:ea typeface="Arial"/>
                <a:cs typeface="Arial"/>
                <a:sym typeface="Arial"/>
              </a:rPr>
              <a:t>PASTELARIA DA SOGRA  ·  WEB DESIGN  ·  AC2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38428" y="2674620"/>
            <a:ext cx="8983980" cy="6007608"/>
            <a:chOff x="0" y="0"/>
            <a:chExt cx="11978640" cy="80101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78640" cy="8010144"/>
            </a:xfrm>
            <a:custGeom>
              <a:avLst/>
              <a:gdLst/>
              <a:ahLst/>
              <a:cxnLst/>
              <a:rect r="r" b="b" t="t" l="l"/>
              <a:pathLst>
                <a:path h="8010144" w="11978640">
                  <a:moveTo>
                    <a:pt x="0" y="402209"/>
                  </a:moveTo>
                  <a:cubicBezTo>
                    <a:pt x="0" y="180086"/>
                    <a:pt x="180086" y="0"/>
                    <a:pt x="402209" y="0"/>
                  </a:cubicBezTo>
                  <a:lnTo>
                    <a:pt x="11576431" y="0"/>
                  </a:lnTo>
                  <a:cubicBezTo>
                    <a:pt x="11798554" y="0"/>
                    <a:pt x="11978640" y="180086"/>
                    <a:pt x="11978640" y="402209"/>
                  </a:cubicBezTo>
                  <a:lnTo>
                    <a:pt x="11978640" y="7607935"/>
                  </a:lnTo>
                  <a:cubicBezTo>
                    <a:pt x="11978640" y="7830058"/>
                    <a:pt x="11798554" y="8010144"/>
                    <a:pt x="11576431" y="8010144"/>
                  </a:cubicBezTo>
                  <a:lnTo>
                    <a:pt x="402209" y="8010144"/>
                  </a:lnTo>
                  <a:cubicBezTo>
                    <a:pt x="180086" y="8010144"/>
                    <a:pt x="0" y="7830058"/>
                    <a:pt x="0" y="760793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08760" y="2888742"/>
            <a:ext cx="7543800" cy="40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180">
                <a:solidFill>
                  <a:srgbClr val="0078A8"/>
                </a:solidFill>
                <a:latin typeface="Arial Bold"/>
                <a:ea typeface="Arial Bold"/>
                <a:cs typeface="Arial Bold"/>
                <a:sym typeface="Arial Bold"/>
              </a:rPr>
              <a:t>HOME  ·  DESKTOP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14500" y="3525012"/>
            <a:ext cx="1371600" cy="1371600"/>
            <a:chOff x="0" y="0"/>
            <a:chExt cx="182880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  <a:moveTo>
                    <a:pt x="237744" y="914400"/>
                  </a:moveTo>
                  <a:cubicBezTo>
                    <a:pt x="237744" y="1288161"/>
                    <a:pt x="540639" y="1591056"/>
                    <a:pt x="914400" y="1591056"/>
                  </a:cubicBezTo>
                  <a:cubicBezTo>
                    <a:pt x="1288161" y="1591056"/>
                    <a:pt x="1591056" y="1288161"/>
                    <a:pt x="1591056" y="914400"/>
                  </a:cubicBezTo>
                  <a:cubicBezTo>
                    <a:pt x="1591056" y="540639"/>
                    <a:pt x="1288161" y="237744"/>
                    <a:pt x="914400" y="237744"/>
                  </a:cubicBezTo>
                  <a:cubicBezTo>
                    <a:pt x="540639" y="237744"/>
                    <a:pt x="237744" y="540639"/>
                    <a:pt x="237744" y="914400"/>
                  </a:cubicBezTo>
                  <a:close/>
                </a:path>
              </a:pathLst>
            </a:custGeom>
            <a:solidFill>
              <a:srgbClr val="0CCE6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14500" y="3936492"/>
            <a:ext cx="1371600" cy="548640"/>
            <a:chOff x="0" y="0"/>
            <a:chExt cx="18288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828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0A7F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71600" y="4983099"/>
            <a:ext cx="20574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Desempenho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840480" y="3525012"/>
            <a:ext cx="1371600" cy="1371600"/>
            <a:chOff x="0" y="0"/>
            <a:chExt cx="1828800" cy="182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  <a:moveTo>
                    <a:pt x="237744" y="914400"/>
                  </a:moveTo>
                  <a:cubicBezTo>
                    <a:pt x="237744" y="1288161"/>
                    <a:pt x="540639" y="1591056"/>
                    <a:pt x="914400" y="1591056"/>
                  </a:cubicBezTo>
                  <a:cubicBezTo>
                    <a:pt x="1288161" y="1591056"/>
                    <a:pt x="1591056" y="1288161"/>
                    <a:pt x="1591056" y="914400"/>
                  </a:cubicBezTo>
                  <a:cubicBezTo>
                    <a:pt x="1591056" y="540639"/>
                    <a:pt x="1288161" y="237744"/>
                    <a:pt x="914400" y="237744"/>
                  </a:cubicBezTo>
                  <a:cubicBezTo>
                    <a:pt x="540639" y="237744"/>
                    <a:pt x="237744" y="540639"/>
                    <a:pt x="237744" y="914400"/>
                  </a:cubicBezTo>
                  <a:close/>
                </a:path>
              </a:pathLst>
            </a:custGeom>
            <a:solidFill>
              <a:srgbClr val="E6EA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840480" y="3525012"/>
            <a:ext cx="1371600" cy="1371600"/>
            <a:chOff x="0" y="0"/>
            <a:chExt cx="1828800" cy="1828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72" y="0"/>
              <a:ext cx="1828930" cy="1828844"/>
            </a:xfrm>
            <a:custGeom>
              <a:avLst/>
              <a:gdLst/>
              <a:ahLst/>
              <a:cxnLst/>
              <a:rect r="r" b="b" t="t" l="l"/>
              <a:pathLst>
                <a:path h="1828844" w="1828930">
                  <a:moveTo>
                    <a:pt x="914472" y="0"/>
                  </a:moveTo>
                  <a:cubicBezTo>
                    <a:pt x="1397199" y="0"/>
                    <a:pt x="1796741" y="375158"/>
                    <a:pt x="1827094" y="856996"/>
                  </a:cubicBezTo>
                  <a:cubicBezTo>
                    <a:pt x="1857447" y="1338834"/>
                    <a:pt x="1508070" y="1761109"/>
                    <a:pt x="1029153" y="1821561"/>
                  </a:cubicBezTo>
                  <a:cubicBezTo>
                    <a:pt x="550236" y="1882013"/>
                    <a:pt x="106752" y="1559941"/>
                    <a:pt x="16328" y="1085723"/>
                  </a:cubicBezTo>
                  <a:cubicBezTo>
                    <a:pt x="-74096" y="611505"/>
                    <a:pt x="219528" y="148717"/>
                    <a:pt x="687142" y="28702"/>
                  </a:cubicBezTo>
                  <a:lnTo>
                    <a:pt x="746324" y="258953"/>
                  </a:lnTo>
                  <a:cubicBezTo>
                    <a:pt x="400249" y="347853"/>
                    <a:pt x="182825" y="690372"/>
                    <a:pt x="249754" y="1041146"/>
                  </a:cubicBezTo>
                  <a:cubicBezTo>
                    <a:pt x="316683" y="1391920"/>
                    <a:pt x="644851" y="1630426"/>
                    <a:pt x="999181" y="1585722"/>
                  </a:cubicBezTo>
                  <a:cubicBezTo>
                    <a:pt x="1353511" y="1541018"/>
                    <a:pt x="1612083" y="1228471"/>
                    <a:pt x="1589731" y="871855"/>
                  </a:cubicBezTo>
                  <a:cubicBezTo>
                    <a:pt x="1567379" y="515239"/>
                    <a:pt x="1271723" y="237744"/>
                    <a:pt x="914472" y="237744"/>
                  </a:cubicBezTo>
                  <a:close/>
                </a:path>
              </a:pathLst>
            </a:custGeom>
            <a:solidFill>
              <a:srgbClr val="0CCE6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840480" y="3936492"/>
            <a:ext cx="1371600" cy="548640"/>
            <a:chOff x="0" y="0"/>
            <a:chExt cx="18288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828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0A7F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96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497580" y="4983099"/>
            <a:ext cx="20574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Acessibilidade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966460" y="3525012"/>
            <a:ext cx="1371600" cy="1371600"/>
            <a:chOff x="0" y="0"/>
            <a:chExt cx="1828800" cy="1828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  <a:moveTo>
                    <a:pt x="237744" y="914400"/>
                  </a:moveTo>
                  <a:cubicBezTo>
                    <a:pt x="237744" y="1288161"/>
                    <a:pt x="540639" y="1591056"/>
                    <a:pt x="914400" y="1591056"/>
                  </a:cubicBezTo>
                  <a:cubicBezTo>
                    <a:pt x="1288161" y="1591056"/>
                    <a:pt x="1591056" y="1288161"/>
                    <a:pt x="1591056" y="914400"/>
                  </a:cubicBezTo>
                  <a:cubicBezTo>
                    <a:pt x="1591056" y="540639"/>
                    <a:pt x="1288161" y="237744"/>
                    <a:pt x="914400" y="237744"/>
                  </a:cubicBezTo>
                  <a:cubicBezTo>
                    <a:pt x="540639" y="237744"/>
                    <a:pt x="237744" y="540639"/>
                    <a:pt x="237744" y="914400"/>
                  </a:cubicBezTo>
                  <a:close/>
                </a:path>
              </a:pathLst>
            </a:custGeom>
            <a:solidFill>
              <a:srgbClr val="E6EA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966460" y="3525012"/>
            <a:ext cx="1371600" cy="1371600"/>
            <a:chOff x="0" y="0"/>
            <a:chExt cx="182880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-72" y="0"/>
              <a:ext cx="1828930" cy="1828844"/>
            </a:xfrm>
            <a:custGeom>
              <a:avLst/>
              <a:gdLst/>
              <a:ahLst/>
              <a:cxnLst/>
              <a:rect r="r" b="b" t="t" l="l"/>
              <a:pathLst>
                <a:path h="1828844" w="1828930">
                  <a:moveTo>
                    <a:pt x="914472" y="0"/>
                  </a:moveTo>
                  <a:cubicBezTo>
                    <a:pt x="1397199" y="0"/>
                    <a:pt x="1796741" y="375158"/>
                    <a:pt x="1827094" y="856996"/>
                  </a:cubicBezTo>
                  <a:cubicBezTo>
                    <a:pt x="1857447" y="1338834"/>
                    <a:pt x="1508070" y="1761109"/>
                    <a:pt x="1029153" y="1821561"/>
                  </a:cubicBezTo>
                  <a:cubicBezTo>
                    <a:pt x="550236" y="1882013"/>
                    <a:pt x="106752" y="1559941"/>
                    <a:pt x="16328" y="1085723"/>
                  </a:cubicBezTo>
                  <a:cubicBezTo>
                    <a:pt x="-74096" y="611505"/>
                    <a:pt x="219528" y="148717"/>
                    <a:pt x="687142" y="28702"/>
                  </a:cubicBezTo>
                  <a:lnTo>
                    <a:pt x="746324" y="258953"/>
                  </a:lnTo>
                  <a:cubicBezTo>
                    <a:pt x="400249" y="347853"/>
                    <a:pt x="182825" y="690372"/>
                    <a:pt x="249754" y="1041146"/>
                  </a:cubicBezTo>
                  <a:cubicBezTo>
                    <a:pt x="316683" y="1391920"/>
                    <a:pt x="644851" y="1630426"/>
                    <a:pt x="999181" y="1585722"/>
                  </a:cubicBezTo>
                  <a:cubicBezTo>
                    <a:pt x="1353511" y="1541018"/>
                    <a:pt x="1612083" y="1228471"/>
                    <a:pt x="1589731" y="871855"/>
                  </a:cubicBezTo>
                  <a:cubicBezTo>
                    <a:pt x="1567379" y="515239"/>
                    <a:pt x="1271723" y="237744"/>
                    <a:pt x="914472" y="237744"/>
                  </a:cubicBezTo>
                  <a:close/>
                </a:path>
              </a:pathLst>
            </a:custGeom>
            <a:solidFill>
              <a:srgbClr val="0CCE6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966460" y="3936492"/>
            <a:ext cx="1371600" cy="548640"/>
            <a:chOff x="0" y="0"/>
            <a:chExt cx="18288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828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0A7F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96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623560" y="4983099"/>
            <a:ext cx="20574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Boas práticas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092440" y="3525012"/>
            <a:ext cx="1371600" cy="1371600"/>
            <a:chOff x="0" y="0"/>
            <a:chExt cx="1828800" cy="1828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  <a:moveTo>
                    <a:pt x="237744" y="914400"/>
                  </a:moveTo>
                  <a:cubicBezTo>
                    <a:pt x="237744" y="1288161"/>
                    <a:pt x="540639" y="1591056"/>
                    <a:pt x="914400" y="1591056"/>
                  </a:cubicBezTo>
                  <a:cubicBezTo>
                    <a:pt x="1288161" y="1591056"/>
                    <a:pt x="1591056" y="1288161"/>
                    <a:pt x="1591056" y="914400"/>
                  </a:cubicBezTo>
                  <a:cubicBezTo>
                    <a:pt x="1591056" y="540639"/>
                    <a:pt x="1288161" y="237744"/>
                    <a:pt x="914400" y="237744"/>
                  </a:cubicBezTo>
                  <a:cubicBezTo>
                    <a:pt x="540639" y="237744"/>
                    <a:pt x="237744" y="540639"/>
                    <a:pt x="237744" y="914400"/>
                  </a:cubicBezTo>
                  <a:close/>
                </a:path>
              </a:pathLst>
            </a:custGeom>
            <a:solidFill>
              <a:srgbClr val="0CCE6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092440" y="3936492"/>
            <a:ext cx="1371600" cy="548640"/>
            <a:chOff x="0" y="0"/>
            <a:chExt cx="182880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828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0A7F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7749540" y="4983099"/>
            <a:ext cx="20574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SEO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08760" y="5631942"/>
            <a:ext cx="7543800" cy="40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180">
                <a:solidFill>
                  <a:srgbClr val="0078A8"/>
                </a:solidFill>
                <a:latin typeface="Arial Bold"/>
                <a:ea typeface="Arial Bold"/>
                <a:cs typeface="Arial Bold"/>
                <a:sym typeface="Arial Bold"/>
              </a:rPr>
              <a:t>HOME  ·  MOBILE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714500" y="6268212"/>
            <a:ext cx="1371600" cy="1371600"/>
            <a:chOff x="0" y="0"/>
            <a:chExt cx="182880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  <a:moveTo>
                    <a:pt x="237744" y="914400"/>
                  </a:moveTo>
                  <a:cubicBezTo>
                    <a:pt x="237744" y="1288161"/>
                    <a:pt x="540639" y="1591056"/>
                    <a:pt x="914400" y="1591056"/>
                  </a:cubicBezTo>
                  <a:cubicBezTo>
                    <a:pt x="1288161" y="1591056"/>
                    <a:pt x="1591056" y="1288161"/>
                    <a:pt x="1591056" y="914400"/>
                  </a:cubicBezTo>
                  <a:cubicBezTo>
                    <a:pt x="1591056" y="540639"/>
                    <a:pt x="1288161" y="237744"/>
                    <a:pt x="914400" y="237744"/>
                  </a:cubicBezTo>
                  <a:cubicBezTo>
                    <a:pt x="540639" y="237744"/>
                    <a:pt x="237744" y="540639"/>
                    <a:pt x="237744" y="914400"/>
                  </a:cubicBezTo>
                  <a:close/>
                </a:path>
              </a:pathLst>
            </a:custGeom>
            <a:solidFill>
              <a:srgbClr val="E6EA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714500" y="6268212"/>
            <a:ext cx="1371600" cy="1371600"/>
            <a:chOff x="0" y="0"/>
            <a:chExt cx="182880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-15" y="0"/>
              <a:ext cx="1828804" cy="1828882"/>
            </a:xfrm>
            <a:custGeom>
              <a:avLst/>
              <a:gdLst/>
              <a:ahLst/>
              <a:cxnLst/>
              <a:rect r="r" b="b" t="t" l="l"/>
              <a:pathLst>
                <a:path h="1828882" w="1828804">
                  <a:moveTo>
                    <a:pt x="914415" y="0"/>
                  </a:moveTo>
                  <a:cubicBezTo>
                    <a:pt x="1413779" y="0"/>
                    <a:pt x="1820814" y="400685"/>
                    <a:pt x="1828688" y="900049"/>
                  </a:cubicBezTo>
                  <a:cubicBezTo>
                    <a:pt x="1836562" y="1399413"/>
                    <a:pt x="1442227" y="1812671"/>
                    <a:pt x="943117" y="1828419"/>
                  </a:cubicBezTo>
                  <a:cubicBezTo>
                    <a:pt x="444007" y="1844167"/>
                    <a:pt x="24526" y="1456309"/>
                    <a:pt x="1031" y="957453"/>
                  </a:cubicBezTo>
                  <a:cubicBezTo>
                    <a:pt x="-22464" y="458597"/>
                    <a:pt x="358536" y="33147"/>
                    <a:pt x="857011" y="1778"/>
                  </a:cubicBezTo>
                  <a:lnTo>
                    <a:pt x="871997" y="239014"/>
                  </a:lnTo>
                  <a:cubicBezTo>
                    <a:pt x="503062" y="262255"/>
                    <a:pt x="221122" y="577088"/>
                    <a:pt x="238521" y="946277"/>
                  </a:cubicBezTo>
                  <a:cubicBezTo>
                    <a:pt x="255920" y="1315466"/>
                    <a:pt x="566308" y="1602359"/>
                    <a:pt x="935624" y="1590675"/>
                  </a:cubicBezTo>
                  <a:cubicBezTo>
                    <a:pt x="1304940" y="1578991"/>
                    <a:pt x="1596786" y="1273302"/>
                    <a:pt x="1590944" y="903732"/>
                  </a:cubicBezTo>
                  <a:cubicBezTo>
                    <a:pt x="1585102" y="534162"/>
                    <a:pt x="1283985" y="237744"/>
                    <a:pt x="914415" y="237744"/>
                  </a:cubicBezTo>
                  <a:close/>
                </a:path>
              </a:pathLst>
            </a:custGeom>
            <a:solidFill>
              <a:srgbClr val="0CCE6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714500" y="6679692"/>
            <a:ext cx="1371600" cy="548640"/>
            <a:chOff x="0" y="0"/>
            <a:chExt cx="182880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1828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0A7F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99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371600" y="7726299"/>
            <a:ext cx="20574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Desempenho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3840480" y="6268212"/>
            <a:ext cx="1371600" cy="1371600"/>
            <a:chOff x="0" y="0"/>
            <a:chExt cx="1828800" cy="1828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  <a:moveTo>
                    <a:pt x="237744" y="914400"/>
                  </a:moveTo>
                  <a:cubicBezTo>
                    <a:pt x="237744" y="1288161"/>
                    <a:pt x="540639" y="1591056"/>
                    <a:pt x="914400" y="1591056"/>
                  </a:cubicBezTo>
                  <a:cubicBezTo>
                    <a:pt x="1288161" y="1591056"/>
                    <a:pt x="1591056" y="1288161"/>
                    <a:pt x="1591056" y="914400"/>
                  </a:cubicBezTo>
                  <a:cubicBezTo>
                    <a:pt x="1591056" y="540639"/>
                    <a:pt x="1288161" y="237744"/>
                    <a:pt x="914400" y="237744"/>
                  </a:cubicBezTo>
                  <a:cubicBezTo>
                    <a:pt x="540639" y="237744"/>
                    <a:pt x="237744" y="540639"/>
                    <a:pt x="237744" y="914400"/>
                  </a:cubicBezTo>
                  <a:close/>
                </a:path>
              </a:pathLst>
            </a:custGeom>
            <a:solidFill>
              <a:srgbClr val="E6EAF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3840480" y="6268212"/>
            <a:ext cx="1371600" cy="1371600"/>
            <a:chOff x="0" y="0"/>
            <a:chExt cx="1828800" cy="1828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-72" y="0"/>
              <a:ext cx="1828930" cy="1828844"/>
            </a:xfrm>
            <a:custGeom>
              <a:avLst/>
              <a:gdLst/>
              <a:ahLst/>
              <a:cxnLst/>
              <a:rect r="r" b="b" t="t" l="l"/>
              <a:pathLst>
                <a:path h="1828844" w="1828930">
                  <a:moveTo>
                    <a:pt x="914472" y="0"/>
                  </a:moveTo>
                  <a:cubicBezTo>
                    <a:pt x="1397199" y="0"/>
                    <a:pt x="1796741" y="375158"/>
                    <a:pt x="1827094" y="856996"/>
                  </a:cubicBezTo>
                  <a:cubicBezTo>
                    <a:pt x="1857447" y="1338834"/>
                    <a:pt x="1508070" y="1761109"/>
                    <a:pt x="1029153" y="1821561"/>
                  </a:cubicBezTo>
                  <a:cubicBezTo>
                    <a:pt x="550236" y="1882013"/>
                    <a:pt x="106752" y="1559941"/>
                    <a:pt x="16328" y="1085723"/>
                  </a:cubicBezTo>
                  <a:cubicBezTo>
                    <a:pt x="-74096" y="611505"/>
                    <a:pt x="219528" y="148717"/>
                    <a:pt x="687142" y="28702"/>
                  </a:cubicBezTo>
                  <a:lnTo>
                    <a:pt x="746324" y="258953"/>
                  </a:lnTo>
                  <a:cubicBezTo>
                    <a:pt x="400249" y="347853"/>
                    <a:pt x="182825" y="690372"/>
                    <a:pt x="249754" y="1041146"/>
                  </a:cubicBezTo>
                  <a:cubicBezTo>
                    <a:pt x="316683" y="1391920"/>
                    <a:pt x="644851" y="1630426"/>
                    <a:pt x="999181" y="1585722"/>
                  </a:cubicBezTo>
                  <a:cubicBezTo>
                    <a:pt x="1353511" y="1541018"/>
                    <a:pt x="1612083" y="1228471"/>
                    <a:pt x="1589731" y="871855"/>
                  </a:cubicBezTo>
                  <a:cubicBezTo>
                    <a:pt x="1567379" y="515239"/>
                    <a:pt x="1271723" y="237744"/>
                    <a:pt x="914472" y="237744"/>
                  </a:cubicBezTo>
                  <a:close/>
                </a:path>
              </a:pathLst>
            </a:custGeom>
            <a:solidFill>
              <a:srgbClr val="0CCE6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3840480" y="6679692"/>
            <a:ext cx="1371600" cy="548640"/>
            <a:chOff x="0" y="0"/>
            <a:chExt cx="182880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828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0A7F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96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3497580" y="7726299"/>
            <a:ext cx="20574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Acessibilidade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5966460" y="6268212"/>
            <a:ext cx="1371600" cy="1371600"/>
            <a:chOff x="0" y="0"/>
            <a:chExt cx="1828800" cy="1828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  <a:moveTo>
                    <a:pt x="237744" y="914400"/>
                  </a:moveTo>
                  <a:cubicBezTo>
                    <a:pt x="237744" y="1288161"/>
                    <a:pt x="540639" y="1591056"/>
                    <a:pt x="914400" y="1591056"/>
                  </a:cubicBezTo>
                  <a:cubicBezTo>
                    <a:pt x="1288161" y="1591056"/>
                    <a:pt x="1591056" y="1288161"/>
                    <a:pt x="1591056" y="914400"/>
                  </a:cubicBezTo>
                  <a:cubicBezTo>
                    <a:pt x="1591056" y="540639"/>
                    <a:pt x="1288161" y="237744"/>
                    <a:pt x="914400" y="237744"/>
                  </a:cubicBezTo>
                  <a:cubicBezTo>
                    <a:pt x="540639" y="237744"/>
                    <a:pt x="237744" y="540639"/>
                    <a:pt x="237744" y="914400"/>
                  </a:cubicBezTo>
                  <a:close/>
                </a:path>
              </a:pathLst>
            </a:custGeom>
            <a:solidFill>
              <a:srgbClr val="E6EAF0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966460" y="6268212"/>
            <a:ext cx="1371600" cy="1371600"/>
            <a:chOff x="0" y="0"/>
            <a:chExt cx="1828800" cy="1828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-72" y="0"/>
              <a:ext cx="1828930" cy="1828844"/>
            </a:xfrm>
            <a:custGeom>
              <a:avLst/>
              <a:gdLst/>
              <a:ahLst/>
              <a:cxnLst/>
              <a:rect r="r" b="b" t="t" l="l"/>
              <a:pathLst>
                <a:path h="1828844" w="1828930">
                  <a:moveTo>
                    <a:pt x="914472" y="0"/>
                  </a:moveTo>
                  <a:cubicBezTo>
                    <a:pt x="1397199" y="0"/>
                    <a:pt x="1796741" y="375158"/>
                    <a:pt x="1827094" y="856996"/>
                  </a:cubicBezTo>
                  <a:cubicBezTo>
                    <a:pt x="1857447" y="1338834"/>
                    <a:pt x="1508070" y="1761109"/>
                    <a:pt x="1029153" y="1821561"/>
                  </a:cubicBezTo>
                  <a:cubicBezTo>
                    <a:pt x="550236" y="1882013"/>
                    <a:pt x="106752" y="1559941"/>
                    <a:pt x="16328" y="1085723"/>
                  </a:cubicBezTo>
                  <a:cubicBezTo>
                    <a:pt x="-74096" y="611505"/>
                    <a:pt x="219528" y="148717"/>
                    <a:pt x="687142" y="28702"/>
                  </a:cubicBezTo>
                  <a:lnTo>
                    <a:pt x="746324" y="258953"/>
                  </a:lnTo>
                  <a:cubicBezTo>
                    <a:pt x="400249" y="347853"/>
                    <a:pt x="182825" y="690372"/>
                    <a:pt x="249754" y="1041146"/>
                  </a:cubicBezTo>
                  <a:cubicBezTo>
                    <a:pt x="316683" y="1391920"/>
                    <a:pt x="644851" y="1630426"/>
                    <a:pt x="999181" y="1585722"/>
                  </a:cubicBezTo>
                  <a:cubicBezTo>
                    <a:pt x="1353511" y="1541018"/>
                    <a:pt x="1612083" y="1228471"/>
                    <a:pt x="1589731" y="871855"/>
                  </a:cubicBezTo>
                  <a:cubicBezTo>
                    <a:pt x="1567379" y="515239"/>
                    <a:pt x="1271723" y="237744"/>
                    <a:pt x="914472" y="237744"/>
                  </a:cubicBezTo>
                  <a:close/>
                </a:path>
              </a:pathLst>
            </a:custGeom>
            <a:solidFill>
              <a:srgbClr val="0CCE6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966460" y="6679692"/>
            <a:ext cx="1371600" cy="548640"/>
            <a:chOff x="0" y="0"/>
            <a:chExt cx="182880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1828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0A7F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96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5623560" y="7726299"/>
            <a:ext cx="20574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Boas práticas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8092440" y="6268212"/>
            <a:ext cx="1371600" cy="1371600"/>
            <a:chOff x="0" y="0"/>
            <a:chExt cx="1828800" cy="1828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  <a:moveTo>
                    <a:pt x="237744" y="914400"/>
                  </a:moveTo>
                  <a:cubicBezTo>
                    <a:pt x="237744" y="1288161"/>
                    <a:pt x="540639" y="1591056"/>
                    <a:pt x="914400" y="1591056"/>
                  </a:cubicBezTo>
                  <a:cubicBezTo>
                    <a:pt x="1288161" y="1591056"/>
                    <a:pt x="1591056" y="1288161"/>
                    <a:pt x="1591056" y="914400"/>
                  </a:cubicBezTo>
                  <a:cubicBezTo>
                    <a:pt x="1591056" y="540639"/>
                    <a:pt x="1288161" y="237744"/>
                    <a:pt x="914400" y="237744"/>
                  </a:cubicBezTo>
                  <a:cubicBezTo>
                    <a:pt x="540639" y="237744"/>
                    <a:pt x="237744" y="540639"/>
                    <a:pt x="237744" y="914400"/>
                  </a:cubicBezTo>
                  <a:close/>
                </a:path>
              </a:pathLst>
            </a:custGeom>
            <a:solidFill>
              <a:srgbClr val="0CCE6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092440" y="6679692"/>
            <a:ext cx="1371600" cy="548640"/>
            <a:chOff x="0" y="0"/>
            <a:chExt cx="182880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1828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0A7F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7749540" y="7726299"/>
            <a:ext cx="20574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SEO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0629900" y="2743200"/>
            <a:ext cx="685800" cy="685800"/>
            <a:chOff x="0" y="0"/>
            <a:chExt cx="914400" cy="914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A3E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629900" y="2743200"/>
            <a:ext cx="685800" cy="685800"/>
            <a:chOff x="0" y="0"/>
            <a:chExt cx="914400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1590020" y="2665095"/>
            <a:ext cx="5486400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SEO técnico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590020" y="3098673"/>
            <a:ext cx="5417820" cy="87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8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Favicon, canonical, Open Graph, robots.txt, sitemap.xml e página 404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0629900" y="4279392"/>
            <a:ext cx="685800" cy="685800"/>
            <a:chOff x="0" y="0"/>
            <a:chExt cx="914400" cy="914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5241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629900" y="4279392"/>
            <a:ext cx="685800" cy="685800"/>
            <a:chOff x="0" y="0"/>
            <a:chExt cx="914400" cy="9144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1590020" y="4201287"/>
            <a:ext cx="5486400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Carrinho resistente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590020" y="4634865"/>
            <a:ext cx="5417820" cy="87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8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Dados inválidos salvos no navegador são ignorados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0629900" y="5815584"/>
            <a:ext cx="685800" cy="685800"/>
            <a:chOff x="0" y="0"/>
            <a:chExt cx="914400" cy="9144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9E5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629900" y="5815584"/>
            <a:ext cx="685800" cy="685800"/>
            <a:chOff x="0" y="0"/>
            <a:chExt cx="914400" cy="9144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1590020" y="5737479"/>
            <a:ext cx="5486400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Testes de quebra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590020" y="6171057"/>
            <a:ext cx="5417820" cy="87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8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Testes manuais nas 6 páginas; carrinho, checkout e teclado validados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10629900" y="7351776"/>
            <a:ext cx="685800" cy="685800"/>
            <a:chOff x="0" y="0"/>
            <a:chExt cx="91440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629900" y="7351776"/>
            <a:ext cx="685800" cy="685800"/>
            <a:chOff x="0" y="0"/>
            <a:chExt cx="914400" cy="914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11590020" y="7273671"/>
            <a:ext cx="5486400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Desempenho e UX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590020" y="7707249"/>
            <a:ext cx="5417820" cy="87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875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Imagens otimizadas, pré-carregamento da galeria e atalho ao carrinho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138428" y="8759190"/>
            <a:ext cx="14401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380"/>
                </a:solidFill>
                <a:latin typeface="Arial"/>
                <a:ea typeface="Arial"/>
                <a:cs typeface="Arial"/>
                <a:sym typeface="Arial"/>
              </a:rPr>
              <a:t>Medições Lighthouse da Home em 24/10/2026 (não de todas as páginas); os valores variam entre execuções.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88813" y="8893950"/>
            <a:ext cx="1728187" cy="1326118"/>
            <a:chOff x="0" y="0"/>
            <a:chExt cx="2304250" cy="1768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4288" cy="1768094"/>
            </a:xfrm>
            <a:custGeom>
              <a:avLst/>
              <a:gdLst/>
              <a:ahLst/>
              <a:cxnLst/>
              <a:rect r="r" b="b" t="t" l="l"/>
              <a:pathLst>
                <a:path h="1768094" w="2304288">
                  <a:moveTo>
                    <a:pt x="0" y="0"/>
                  </a:moveTo>
                  <a:lnTo>
                    <a:pt x="2304288" y="0"/>
                  </a:lnTo>
                  <a:lnTo>
                    <a:pt x="2304288" y="1768094"/>
                  </a:lnTo>
                  <a:lnTo>
                    <a:pt x="0" y="1768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326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127480" y="-1920240"/>
            <a:ext cx="5212080" cy="5212080"/>
            <a:chOff x="0" y="0"/>
            <a:chExt cx="6949440" cy="6949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49440" cy="6949440"/>
            </a:xfrm>
            <a:custGeom>
              <a:avLst/>
              <a:gdLst/>
              <a:ahLst/>
              <a:cxnLst/>
              <a:rect r="r" b="b" t="t" l="l"/>
              <a:pathLst>
                <a:path h="6949440" w="6949440">
                  <a:moveTo>
                    <a:pt x="0" y="3474720"/>
                  </a:moveTo>
                  <a:cubicBezTo>
                    <a:pt x="0" y="1555623"/>
                    <a:pt x="1555623" y="0"/>
                    <a:pt x="3474720" y="0"/>
                  </a:cubicBezTo>
                  <a:cubicBezTo>
                    <a:pt x="5393817" y="0"/>
                    <a:pt x="6949440" y="1555623"/>
                    <a:pt x="6949440" y="3474720"/>
                  </a:cubicBezTo>
                  <a:cubicBezTo>
                    <a:pt x="6949440" y="5393817"/>
                    <a:pt x="5393817" y="6949440"/>
                    <a:pt x="3474720" y="6949440"/>
                  </a:cubicBezTo>
                  <a:cubicBezTo>
                    <a:pt x="1555623" y="6949440"/>
                    <a:pt x="0" y="5393817"/>
                    <a:pt x="0" y="3474720"/>
                  </a:cubicBezTo>
                  <a:close/>
                  <a:moveTo>
                    <a:pt x="590677" y="3474720"/>
                  </a:moveTo>
                  <a:cubicBezTo>
                    <a:pt x="590677" y="5067554"/>
                    <a:pt x="1881886" y="6358763"/>
                    <a:pt x="3474720" y="6358763"/>
                  </a:cubicBezTo>
                  <a:cubicBezTo>
                    <a:pt x="5067554" y="6358763"/>
                    <a:pt x="6358763" y="5067554"/>
                    <a:pt x="6358763" y="3474720"/>
                  </a:cubicBezTo>
                  <a:cubicBezTo>
                    <a:pt x="6358763" y="1881886"/>
                    <a:pt x="5067554" y="590677"/>
                    <a:pt x="3474720" y="590677"/>
                  </a:cubicBezTo>
                  <a:cubicBezTo>
                    <a:pt x="1881886" y="590677"/>
                    <a:pt x="590677" y="1881886"/>
                    <a:pt x="590677" y="3474720"/>
                  </a:cubicBezTo>
                  <a:close/>
                </a:path>
              </a:pathLst>
            </a:custGeom>
            <a:solidFill>
              <a:srgbClr val="00A3E0">
                <a:alpha val="2353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3520" y="2125980"/>
            <a:ext cx="274320" cy="274320"/>
            <a:chOff x="0" y="0"/>
            <a:chExt cx="365760" cy="365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8428" y="493776"/>
            <a:ext cx="3497580" cy="411480"/>
            <a:chOff x="0" y="0"/>
            <a:chExt cx="466344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3440" cy="548640"/>
            </a:xfrm>
            <a:custGeom>
              <a:avLst/>
              <a:gdLst/>
              <a:ahLst/>
              <a:cxnLst/>
              <a:rect r="r" b="b" t="t" l="l"/>
              <a:pathLst>
                <a:path h="548640" w="46634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389120" y="0"/>
                  </a:lnTo>
                  <a:cubicBezTo>
                    <a:pt x="4540631" y="0"/>
                    <a:pt x="4663440" y="122809"/>
                    <a:pt x="4663440" y="274320"/>
                  </a:cubicBezTo>
                  <a:cubicBezTo>
                    <a:pt x="4663440" y="425831"/>
                    <a:pt x="4540631" y="548640"/>
                    <a:pt x="438912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CEFF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663440" cy="55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80">
                  <a:solidFill>
                    <a:srgbClr val="0078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  ·  VERSÕES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8428" y="987552"/>
            <a:ext cx="14127480" cy="987552"/>
            <a:chOff x="0" y="0"/>
            <a:chExt cx="18836640" cy="1316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366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744" r="0" b="-2287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836640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Versionamento e entregas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38428" y="1942338"/>
            <a:ext cx="1426464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O GitHub registra a evolução; tags SemVer marcam cada marco do projeto.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04820" y="529590"/>
            <a:ext cx="130302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14447A"/>
                </a:solidFill>
                <a:latin typeface="Arial Bold"/>
                <a:ea typeface="Arial Bold"/>
                <a:cs typeface="Arial Bold"/>
                <a:sym typeface="Arial Bold"/>
              </a:rPr>
              <a:t>11/12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8428" y="9358503"/>
            <a:ext cx="12344400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B7380"/>
                </a:solidFill>
                <a:latin typeface="Arial"/>
                <a:ea typeface="Arial"/>
                <a:cs typeface="Arial"/>
                <a:sym typeface="Arial"/>
              </a:rPr>
              <a:t>PASTELARIA DA SOGRA  ·  WEB DESIGN  ·  AC2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8428" y="2655570"/>
            <a:ext cx="89154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272F6D"/>
                </a:solidFill>
                <a:latin typeface="Arial Bold"/>
                <a:ea typeface="Arial Bold"/>
                <a:cs typeface="Arial Bold"/>
                <a:sym typeface="Arial Bold"/>
              </a:rPr>
              <a:t>MAJOR</a:t>
            </a:r>
            <a:r>
              <a:rPr lang="en-US" sz="3900" b="true">
                <a:solidFill>
                  <a:srgbClr val="9AA3B5"/>
                </a:solidFill>
                <a:latin typeface="Arial Bold"/>
                <a:ea typeface="Arial Bold"/>
                <a:cs typeface="Arial Bold"/>
                <a:sym typeface="Arial Bold"/>
              </a:rPr>
              <a:t> . </a:t>
            </a:r>
            <a:r>
              <a:rPr lang="en-US" sz="3900" b="true">
                <a:solidFill>
                  <a:srgbClr val="0078A8"/>
                </a:solidFill>
                <a:latin typeface="Arial Bold"/>
                <a:ea typeface="Arial Bold"/>
                <a:cs typeface="Arial Bold"/>
                <a:sym typeface="Arial Bold"/>
              </a:rPr>
              <a:t>MINOR</a:t>
            </a:r>
            <a:r>
              <a:rPr lang="en-US" sz="3900" b="true">
                <a:solidFill>
                  <a:srgbClr val="9AA3B5"/>
                </a:solidFill>
                <a:latin typeface="Arial Bold"/>
                <a:ea typeface="Arial Bold"/>
                <a:cs typeface="Arial Bold"/>
                <a:sym typeface="Arial Bold"/>
              </a:rPr>
              <a:t> . </a:t>
            </a:r>
            <a:r>
              <a:rPr lang="en-US" sz="3900" b="true">
                <a:solidFill>
                  <a:srgbClr val="1E9E5A"/>
                </a:solidFill>
                <a:latin typeface="Arial Bold"/>
                <a:ea typeface="Arial Bold"/>
                <a:cs typeface="Arial Bold"/>
                <a:sym typeface="Arial Bold"/>
              </a:rPr>
              <a:t>PATCH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38428" y="3497580"/>
            <a:ext cx="2811780" cy="1069848"/>
            <a:chOff x="0" y="0"/>
            <a:chExt cx="3749040" cy="14264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490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3749040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3456432" y="0"/>
                  </a:lnTo>
                  <a:cubicBezTo>
                    <a:pt x="3617976" y="0"/>
                    <a:pt x="3749040" y="130937"/>
                    <a:pt x="3749040" y="292608"/>
                  </a:cubicBezTo>
                  <a:lnTo>
                    <a:pt x="3749040" y="1133856"/>
                  </a:lnTo>
                  <a:cubicBezTo>
                    <a:pt x="3749040" y="1295400"/>
                    <a:pt x="3618103" y="1426464"/>
                    <a:pt x="3456432" y="1426464"/>
                  </a:cubicBezTo>
                  <a:lnTo>
                    <a:pt x="292608" y="1426464"/>
                  </a:lnTo>
                  <a:cubicBezTo>
                    <a:pt x="130937" y="1426464"/>
                    <a:pt x="0" y="1295527"/>
                    <a:pt x="0" y="1133856"/>
                  </a:cubicBezTo>
                  <a:close/>
                </a:path>
              </a:pathLst>
            </a:custGeom>
            <a:solidFill>
              <a:srgbClr val="272F6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8428" y="3547110"/>
            <a:ext cx="28117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b="true" sz="1725" spc="14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MAJOR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8428" y="3958590"/>
            <a:ext cx="28117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incompatibilidade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155948" y="3497580"/>
            <a:ext cx="2811780" cy="1069848"/>
            <a:chOff x="0" y="0"/>
            <a:chExt cx="3749040" cy="14264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490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3749040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3456432" y="0"/>
                  </a:lnTo>
                  <a:cubicBezTo>
                    <a:pt x="3617976" y="0"/>
                    <a:pt x="3749040" y="130937"/>
                    <a:pt x="3749040" y="292608"/>
                  </a:cubicBezTo>
                  <a:lnTo>
                    <a:pt x="3749040" y="1133856"/>
                  </a:lnTo>
                  <a:cubicBezTo>
                    <a:pt x="3749040" y="1295400"/>
                    <a:pt x="3618103" y="1426464"/>
                    <a:pt x="3456432" y="1426464"/>
                  </a:cubicBezTo>
                  <a:lnTo>
                    <a:pt x="292608" y="1426464"/>
                  </a:lnTo>
                  <a:cubicBezTo>
                    <a:pt x="130937" y="1426464"/>
                    <a:pt x="0" y="1295527"/>
                    <a:pt x="0" y="1133856"/>
                  </a:cubicBezTo>
                  <a:close/>
                </a:path>
              </a:pathLst>
            </a:custGeom>
            <a:solidFill>
              <a:srgbClr val="0078A8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4155948" y="3547110"/>
            <a:ext cx="28117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b="true" sz="1725" spc="14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MINOR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55948" y="3958590"/>
            <a:ext cx="28117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recurso compatível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173468" y="3497580"/>
            <a:ext cx="2811780" cy="1069848"/>
            <a:chOff x="0" y="0"/>
            <a:chExt cx="3749040" cy="14264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490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3749040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3456432" y="0"/>
                  </a:lnTo>
                  <a:cubicBezTo>
                    <a:pt x="3617976" y="0"/>
                    <a:pt x="3749040" y="130937"/>
                    <a:pt x="3749040" y="292608"/>
                  </a:cubicBezTo>
                  <a:lnTo>
                    <a:pt x="3749040" y="1133856"/>
                  </a:lnTo>
                  <a:cubicBezTo>
                    <a:pt x="3749040" y="1295400"/>
                    <a:pt x="3618103" y="1426464"/>
                    <a:pt x="3456432" y="1426464"/>
                  </a:cubicBezTo>
                  <a:lnTo>
                    <a:pt x="292608" y="1426464"/>
                  </a:lnTo>
                  <a:cubicBezTo>
                    <a:pt x="130937" y="1426464"/>
                    <a:pt x="0" y="1295527"/>
                    <a:pt x="0" y="1133856"/>
                  </a:cubicBezTo>
                  <a:close/>
                </a:path>
              </a:pathLst>
            </a:custGeom>
            <a:solidFill>
              <a:srgbClr val="1E9E5A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173468" y="3547110"/>
            <a:ext cx="28117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b="true" sz="1725" spc="14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PATCH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73468" y="3958590"/>
            <a:ext cx="281178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correção compatível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355580" y="2674620"/>
            <a:ext cx="2125980" cy="1892808"/>
            <a:chOff x="0" y="0"/>
            <a:chExt cx="2834640" cy="25237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34640" cy="2523744"/>
            </a:xfrm>
            <a:custGeom>
              <a:avLst/>
              <a:gdLst/>
              <a:ahLst/>
              <a:cxnLst/>
              <a:rect r="r" b="b" t="t" l="l"/>
              <a:pathLst>
                <a:path h="2523744" w="283464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05456" y="0"/>
                  </a:lnTo>
                  <a:cubicBezTo>
                    <a:pt x="2687320" y="0"/>
                    <a:pt x="2834640" y="147320"/>
                    <a:pt x="2834640" y="329184"/>
                  </a:cubicBezTo>
                  <a:lnTo>
                    <a:pt x="2834640" y="2194560"/>
                  </a:lnTo>
                  <a:cubicBezTo>
                    <a:pt x="2834640" y="2376297"/>
                    <a:pt x="2687320" y="2523744"/>
                    <a:pt x="2505456" y="2523744"/>
                  </a:cubicBezTo>
                  <a:lnTo>
                    <a:pt x="329184" y="2523744"/>
                  </a:lnTo>
                  <a:cubicBezTo>
                    <a:pt x="147320" y="2523744"/>
                    <a:pt x="0" y="2376424"/>
                    <a:pt x="0" y="2194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355580" y="2852928"/>
            <a:ext cx="2125980" cy="850392"/>
            <a:chOff x="0" y="0"/>
            <a:chExt cx="2834640" cy="11338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346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283464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B524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77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492740" y="3721227"/>
            <a:ext cx="18516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65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646152" y="2674620"/>
            <a:ext cx="2125980" cy="1892808"/>
            <a:chOff x="0" y="0"/>
            <a:chExt cx="2834640" cy="25237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34640" cy="2523744"/>
            </a:xfrm>
            <a:custGeom>
              <a:avLst/>
              <a:gdLst/>
              <a:ahLst/>
              <a:cxnLst/>
              <a:rect r="r" b="b" t="t" l="l"/>
              <a:pathLst>
                <a:path h="2523744" w="283464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05456" y="0"/>
                  </a:lnTo>
                  <a:cubicBezTo>
                    <a:pt x="2687320" y="0"/>
                    <a:pt x="2834640" y="147320"/>
                    <a:pt x="2834640" y="329184"/>
                  </a:cubicBezTo>
                  <a:lnTo>
                    <a:pt x="2834640" y="2194560"/>
                  </a:lnTo>
                  <a:cubicBezTo>
                    <a:pt x="2834640" y="2376297"/>
                    <a:pt x="2687320" y="2523744"/>
                    <a:pt x="2505456" y="2523744"/>
                  </a:cubicBezTo>
                  <a:lnTo>
                    <a:pt x="329184" y="2523744"/>
                  </a:lnTo>
                  <a:cubicBezTo>
                    <a:pt x="147320" y="2523744"/>
                    <a:pt x="0" y="2376424"/>
                    <a:pt x="0" y="2194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646152" y="2852928"/>
            <a:ext cx="2125980" cy="850392"/>
            <a:chOff x="0" y="0"/>
            <a:chExt cx="2834640" cy="1133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346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83464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B524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783312" y="3721227"/>
            <a:ext cx="18516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650">
                <a:solidFill>
                  <a:srgbClr val="5B6373"/>
                </a:solidFill>
                <a:latin typeface="Arial"/>
                <a:ea typeface="Arial"/>
                <a:cs typeface="Arial"/>
                <a:sym typeface="Arial"/>
              </a:rPr>
              <a:t>tags publicadas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4936724" y="2674620"/>
            <a:ext cx="2125980" cy="1892808"/>
            <a:chOff x="0" y="0"/>
            <a:chExt cx="2834640" cy="25237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834640" cy="2523744"/>
            </a:xfrm>
            <a:custGeom>
              <a:avLst/>
              <a:gdLst/>
              <a:ahLst/>
              <a:cxnLst/>
              <a:rect r="r" b="b" t="t" l="l"/>
              <a:pathLst>
                <a:path h="2523744" w="283464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05456" y="0"/>
                  </a:lnTo>
                  <a:cubicBezTo>
                    <a:pt x="2687320" y="0"/>
                    <a:pt x="2834640" y="147320"/>
                    <a:pt x="2834640" y="329184"/>
                  </a:cubicBezTo>
                  <a:lnTo>
                    <a:pt x="2834640" y="2194560"/>
                  </a:lnTo>
                  <a:cubicBezTo>
                    <a:pt x="2834640" y="2376297"/>
                    <a:pt x="2687320" y="2523744"/>
                    <a:pt x="2505456" y="2523744"/>
                  </a:cubicBezTo>
                  <a:lnTo>
                    <a:pt x="329184" y="2523744"/>
                  </a:lnTo>
                  <a:cubicBezTo>
                    <a:pt x="147320" y="2523744"/>
                    <a:pt x="0" y="2376424"/>
                    <a:pt x="0" y="2194560"/>
                  </a:cubicBezTo>
                  <a:close/>
                </a:path>
              </a:pathLst>
            </a:custGeom>
            <a:solidFill>
              <a:srgbClr val="F4B41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936724" y="2852928"/>
            <a:ext cx="2125980" cy="850392"/>
            <a:chOff x="0" y="0"/>
            <a:chExt cx="2834640" cy="11338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8346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83464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v1.0.0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5073884" y="3721227"/>
            <a:ext cx="18516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50"/>
              <a:t>versão estável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645920" y="6076188"/>
            <a:ext cx="14950440" cy="68580"/>
            <a:chOff x="0" y="0"/>
            <a:chExt cx="19933920" cy="91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933920" cy="91440"/>
            </a:xfrm>
            <a:custGeom>
              <a:avLst/>
              <a:gdLst/>
              <a:ahLst/>
              <a:cxnLst/>
              <a:rect r="r" b="b" t="t" l="l"/>
              <a:pathLst>
                <a:path h="91440" w="19933920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9897344" y="0"/>
                  </a:lnTo>
                  <a:cubicBezTo>
                    <a:pt x="19917536" y="0"/>
                    <a:pt x="19933920" y="16383"/>
                    <a:pt x="19933920" y="36576"/>
                  </a:cubicBezTo>
                  <a:lnTo>
                    <a:pt x="19933920" y="54864"/>
                  </a:lnTo>
                  <a:cubicBezTo>
                    <a:pt x="19933920" y="75057"/>
                    <a:pt x="19917536" y="91440"/>
                    <a:pt x="19897344" y="91440"/>
                  </a:cubicBezTo>
                  <a:lnTo>
                    <a:pt x="36576" y="91440"/>
                  </a:lnTo>
                  <a:cubicBezTo>
                    <a:pt x="16383" y="91440"/>
                    <a:pt x="0" y="75057"/>
                    <a:pt x="0" y="54864"/>
                  </a:cubicBezTo>
                  <a:close/>
                </a:path>
              </a:pathLst>
            </a:custGeom>
            <a:solidFill>
              <a:srgbClr val="D5DCE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12748" y="5870448"/>
            <a:ext cx="466344" cy="466344"/>
            <a:chOff x="0" y="0"/>
            <a:chExt cx="621792" cy="6217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17220" y="5184648"/>
            <a:ext cx="2057400" cy="466344"/>
            <a:chOff x="0" y="0"/>
            <a:chExt cx="274320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74320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v0.1.0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630936" y="6546723"/>
            <a:ext cx="202996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650">
                <a:solidFill>
                  <a:srgbClr val="2B2F3A"/>
                </a:solidFill>
                <a:latin typeface="Arial"/>
                <a:ea typeface="Arial"/>
                <a:cs typeface="Arial"/>
                <a:sym typeface="Arial"/>
              </a:rPr>
              <a:t>Estrutura inicial do projeto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3552444" y="5870448"/>
            <a:ext cx="466344" cy="466344"/>
            <a:chOff x="0" y="0"/>
            <a:chExt cx="621792" cy="6217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756916" y="5184648"/>
            <a:ext cx="2057400" cy="466344"/>
            <a:chOff x="0" y="0"/>
            <a:chExt cx="2743200" cy="6217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74320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v0.2.0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2770632" y="6546723"/>
            <a:ext cx="202996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650">
                <a:solidFill>
                  <a:srgbClr val="2B2F3A"/>
                </a:solidFill>
                <a:latin typeface="Arial"/>
                <a:ea typeface="Arial"/>
                <a:cs typeface="Arial"/>
                <a:sym typeface="Arial"/>
              </a:rPr>
              <a:t>Estrutura HTML da Home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5692140" y="5870448"/>
            <a:ext cx="466344" cy="466344"/>
            <a:chOff x="0" y="0"/>
            <a:chExt cx="621792" cy="6217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896612" y="5184648"/>
            <a:ext cx="2057400" cy="466344"/>
            <a:chOff x="0" y="0"/>
            <a:chExt cx="2743200" cy="6217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274320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v0.3.0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4910328" y="6546723"/>
            <a:ext cx="202996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650">
                <a:solidFill>
                  <a:srgbClr val="2B2F3A"/>
                </a:solidFill>
                <a:latin typeface="Arial"/>
                <a:ea typeface="Arial"/>
                <a:cs typeface="Arial"/>
                <a:sym typeface="Arial"/>
              </a:rPr>
              <a:t>Cardápio com pesquisa e filtros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7831836" y="5870448"/>
            <a:ext cx="466344" cy="466344"/>
            <a:chOff x="0" y="0"/>
            <a:chExt cx="621792" cy="6217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7036308" y="5184648"/>
            <a:ext cx="2057400" cy="466344"/>
            <a:chOff x="0" y="0"/>
            <a:chExt cx="2743200" cy="6217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74320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v0.4.0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7050024" y="6546723"/>
            <a:ext cx="202996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650">
                <a:solidFill>
                  <a:srgbClr val="2B2F3A"/>
                </a:solidFill>
                <a:latin typeface="Arial"/>
                <a:ea typeface="Arial"/>
                <a:cs typeface="Arial"/>
                <a:sym typeface="Arial"/>
              </a:rPr>
              <a:t>Galeria responsiva e ampliação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9971532" y="5870448"/>
            <a:ext cx="466344" cy="466344"/>
            <a:chOff x="0" y="0"/>
            <a:chExt cx="621792" cy="6217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176004" y="5184648"/>
            <a:ext cx="2057400" cy="466344"/>
            <a:chOff x="0" y="0"/>
            <a:chExt cx="2743200" cy="62179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274320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v0.4.1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9189720" y="6546723"/>
            <a:ext cx="202996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650">
                <a:solidFill>
                  <a:srgbClr val="2B2F3A"/>
                </a:solidFill>
                <a:latin typeface="Arial"/>
                <a:ea typeface="Arial"/>
                <a:cs typeface="Arial"/>
                <a:sym typeface="Arial"/>
              </a:rPr>
              <a:t>Correção da metadescrição (PATCH)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2111228" y="5870448"/>
            <a:ext cx="466344" cy="466344"/>
            <a:chOff x="0" y="0"/>
            <a:chExt cx="621792" cy="6217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315700" y="5184648"/>
            <a:ext cx="2057400" cy="466344"/>
            <a:chOff x="0" y="0"/>
            <a:chExt cx="2743200" cy="6217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274320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v0.5.0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1329416" y="6546723"/>
            <a:ext cx="202996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650">
                <a:solidFill>
                  <a:srgbClr val="2B2F3A"/>
                </a:solidFill>
                <a:latin typeface="Arial"/>
                <a:ea typeface="Arial"/>
                <a:cs typeface="Arial"/>
                <a:sym typeface="Arial"/>
              </a:rPr>
              <a:t>Página Contato, mapa e atendimento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4250924" y="5870448"/>
            <a:ext cx="466344" cy="466344"/>
            <a:chOff x="0" y="0"/>
            <a:chExt cx="621792" cy="62179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4447A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3455396" y="5184648"/>
            <a:ext cx="2057400" cy="466344"/>
            <a:chOff x="0" y="0"/>
            <a:chExt cx="2743200" cy="6217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74320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v0.6.0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3469112" y="6546723"/>
            <a:ext cx="202996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650">
                <a:solidFill>
                  <a:srgbClr val="2B2F3A"/>
                </a:solidFill>
                <a:latin typeface="Arial"/>
                <a:ea typeface="Arial"/>
                <a:cs typeface="Arial"/>
                <a:sym typeface="Arial"/>
              </a:rPr>
              <a:t>Checkout acadêmico simulado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6371570" y="5851398"/>
            <a:ext cx="504444" cy="504444"/>
            <a:chOff x="0" y="0"/>
            <a:chExt cx="672592" cy="6725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72592" cy="672592"/>
            </a:xfrm>
            <a:custGeom>
              <a:avLst/>
              <a:gdLst/>
              <a:ahLst/>
              <a:cxnLst/>
              <a:rect r="r" b="b" t="t" l="l"/>
              <a:pathLst>
                <a:path h="672592" w="672592">
                  <a:moveTo>
                    <a:pt x="0" y="336296"/>
                  </a:moveTo>
                  <a:cubicBezTo>
                    <a:pt x="0" y="150622"/>
                    <a:pt x="150622" y="0"/>
                    <a:pt x="336296" y="0"/>
                  </a:cubicBezTo>
                  <a:cubicBezTo>
                    <a:pt x="521970" y="0"/>
                    <a:pt x="672592" y="150622"/>
                    <a:pt x="672592" y="336296"/>
                  </a:cubicBezTo>
                  <a:cubicBezTo>
                    <a:pt x="672592" y="521970"/>
                    <a:pt x="521970" y="672592"/>
                    <a:pt x="336296" y="672592"/>
                  </a:cubicBezTo>
                  <a:cubicBezTo>
                    <a:pt x="150622" y="672592"/>
                    <a:pt x="0" y="521970"/>
                    <a:pt x="0" y="336296"/>
                  </a:cubicBezTo>
                  <a:close/>
                </a:path>
              </a:pathLst>
            </a:custGeom>
            <a:solidFill>
              <a:srgbClr val="F4B41A"/>
            </a:solidFill>
            <a:ln w="38100" cap="sq">
              <a:solidFill>
                <a:srgbClr val="B5241C"/>
              </a:solidFill>
              <a:prstDash val="dash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5595092" y="5184648"/>
            <a:ext cx="2057400" cy="466344"/>
            <a:chOff x="0" y="0"/>
            <a:chExt cx="2743200" cy="62179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274320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524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v1.0.0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15608808" y="6546723"/>
            <a:ext cx="202996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50"/>
              <a:t>Versão estável</a:t>
            </a:r>
          </a:p>
          <a:p>
            <a:r>
              <a:rPr sz="1650"/>
              <a:t>publicada para a AC2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1138428" y="8023860"/>
            <a:ext cx="14813280" cy="685800"/>
            <a:chOff x="0" y="0"/>
            <a:chExt cx="19751040" cy="9144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197510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72F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Sete tags históricas retrospectivas e v1.0.0 publicada.  </a:t>
              </a:r>
              <a:r>
                <a:rPr lang="en-US" sz="1875">
                  <a:solidFill>
                    <a:srgbClr val="5B6373"/>
                  </a:solidFill>
                  <a:latin typeface="Arial"/>
                  <a:ea typeface="Arial"/>
                  <a:cs typeface="Arial"/>
                  <a:sym typeface="Arial"/>
                </a:rPr>
                <a:t>Cada commit registra uma mudança; cada tag identifica uma versão.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138428" y="8622030"/>
            <a:ext cx="15087600" cy="45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447A"/>
                </a:solidFill>
                <a:latin typeface="Arial Bold"/>
                <a:ea typeface="Arial Bold"/>
                <a:cs typeface="Arial Bold"/>
                <a:sym typeface="Arial Bold"/>
              </a:rPr>
              <a:t>AC2: 6 páginas · 24 produtos · 16 fotos · deploy na Vercel     Próximo: relatório acadêmico em 23/11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72000">
              <a:srgbClr val="E5E8E8">
                <a:alpha val="100000"/>
              </a:srgbClr>
            </a:gs>
            <a:gs pos="100000">
              <a:srgbClr val="CCD2D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7646" cy="10287000"/>
            <a:chOff x="0" y="0"/>
            <a:chExt cx="49019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20">
                  <a:moveTo>
                    <a:pt x="0" y="0"/>
                  </a:moveTo>
                  <a:lnTo>
                    <a:pt x="490220" y="0"/>
                  </a:lnTo>
                  <a:lnTo>
                    <a:pt x="49022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25614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" y="7132320"/>
            <a:ext cx="18288000" cy="3154680"/>
            <a:chOff x="0" y="0"/>
            <a:chExt cx="24384000" cy="4206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206240"/>
            </a:xfrm>
            <a:custGeom>
              <a:avLst/>
              <a:gdLst/>
              <a:ahLst/>
              <a:cxnLst/>
              <a:rect r="r" b="b" t="t" l="l"/>
              <a:pathLst>
                <a:path h="4206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12467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0" y="7086600"/>
            <a:ext cx="18283238" cy="114300"/>
            <a:chOff x="0" y="0"/>
            <a:chExt cx="24377650" cy="15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765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90" y="-19050"/>
            <a:ext cx="18283238" cy="7065712"/>
            <a:chOff x="0" y="0"/>
            <a:chExt cx="24377650" cy="94209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650" cy="9420987"/>
            </a:xfrm>
            <a:custGeom>
              <a:avLst/>
              <a:gdLst/>
              <a:ahLst/>
              <a:cxnLst/>
              <a:rect r="r" b="b" t="t" l="l"/>
              <a:pathLst>
                <a:path h="9420987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420987"/>
                  </a:lnTo>
                  <a:lnTo>
                    <a:pt x="0" y="9420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1115" y="228600"/>
            <a:ext cx="6323686" cy="6433356"/>
            <a:chOff x="0" y="0"/>
            <a:chExt cx="8431581" cy="85778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31530" cy="8577834"/>
            </a:xfrm>
            <a:custGeom>
              <a:avLst/>
              <a:gdLst/>
              <a:ahLst/>
              <a:cxnLst/>
              <a:rect r="r" b="b" t="t" l="l"/>
              <a:pathLst>
                <a:path h="8577834" w="8431530">
                  <a:moveTo>
                    <a:pt x="0" y="0"/>
                  </a:moveTo>
                  <a:lnTo>
                    <a:pt x="8431530" y="0"/>
                  </a:lnTo>
                  <a:lnTo>
                    <a:pt x="8431530" y="8577834"/>
                  </a:lnTo>
                  <a:lnTo>
                    <a:pt x="0" y="8577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955126" y="7086600"/>
            <a:ext cx="3306880" cy="3305546"/>
            <a:chOff x="0" y="0"/>
            <a:chExt cx="4409173" cy="44073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09186" cy="4407408"/>
            </a:xfrm>
            <a:custGeom>
              <a:avLst/>
              <a:gdLst/>
              <a:ahLst/>
              <a:cxnLst/>
              <a:rect r="r" b="b" t="t" l="l"/>
              <a:pathLst>
                <a:path h="4407408" w="4409186">
                  <a:moveTo>
                    <a:pt x="0" y="0"/>
                  </a:moveTo>
                  <a:lnTo>
                    <a:pt x="4409186" y="0"/>
                  </a:lnTo>
                  <a:lnTo>
                    <a:pt x="4409186" y="4407408"/>
                  </a:lnTo>
                  <a:lnTo>
                    <a:pt x="0" y="4407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64761" y="8915400"/>
            <a:ext cx="15553801" cy="1143000"/>
            <a:chOff x="0" y="0"/>
            <a:chExt cx="20738402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38401" cy="1524000"/>
            </a:xfrm>
            <a:custGeom>
              <a:avLst/>
              <a:gdLst/>
              <a:ahLst/>
              <a:cxnLst/>
              <a:rect r="r" b="b" t="t" l="l"/>
              <a:pathLst>
                <a:path h="1524000" w="20738401">
                  <a:moveTo>
                    <a:pt x="0" y="0"/>
                  </a:moveTo>
                  <a:lnTo>
                    <a:pt x="20738401" y="0"/>
                  </a:lnTo>
                  <a:lnTo>
                    <a:pt x="20738401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5149" r="0" b="-2151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20738402" cy="1514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6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Pastelaria da Sogra · Perguntas?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13325" y="7412888"/>
            <a:ext cx="14456702" cy="1416148"/>
            <a:chOff x="0" y="0"/>
            <a:chExt cx="19275603" cy="18881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75600" cy="1888200"/>
            </a:xfrm>
            <a:custGeom>
              <a:avLst/>
              <a:gdLst/>
              <a:ahLst/>
              <a:cxnLst/>
              <a:rect r="r" b="b" t="t" l="l"/>
              <a:pathLst>
                <a:path h="1888200" w="19275600">
                  <a:moveTo>
                    <a:pt x="0" y="0"/>
                  </a:moveTo>
                  <a:lnTo>
                    <a:pt x="19275600" y="0"/>
                  </a:lnTo>
                  <a:lnTo>
                    <a:pt x="19275600" y="1888200"/>
                  </a:lnTo>
                  <a:lnTo>
                    <a:pt x="0" y="1888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8912" r="0" b="-14891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19275603" cy="1840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04"/>
                </a:lnSpc>
              </a:pPr>
              <a:r>
                <a:rPr lang="en-US" b="true" sz="6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Obrigado!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50967" y="-7144"/>
            <a:ext cx="9644291" cy="1752190"/>
            <a:chOff x="0" y="0"/>
            <a:chExt cx="12859055" cy="23362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59004" cy="2336292"/>
            </a:xfrm>
            <a:custGeom>
              <a:avLst/>
              <a:gdLst/>
              <a:ahLst/>
              <a:cxnLst/>
              <a:rect r="r" b="b" t="t" l="l"/>
              <a:pathLst>
                <a:path h="2336292" w="12859004">
                  <a:moveTo>
                    <a:pt x="0" y="0"/>
                  </a:moveTo>
                  <a:lnTo>
                    <a:pt x="12859004" y="0"/>
                  </a:lnTo>
                  <a:lnTo>
                    <a:pt x="12859004" y="2336292"/>
                  </a:lnTo>
                  <a:lnTo>
                    <a:pt x="0" y="2336292"/>
                  </a:lnTo>
                  <a:close/>
                </a:path>
              </a:pathLst>
            </a:custGeom>
            <a:solidFill>
              <a:srgbClr val="124679"/>
            </a:solidFill>
            <a:ln w="14288" cap="sq">
              <a:solidFill>
                <a:srgbClr val="26305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52400"/>
              <a:ext cx="12859055" cy="2488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180"/>
                </a:lnSpc>
              </a:pPr>
              <a:r>
                <a:rPr lang="en-US" sz="7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Design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DAHY-dDKOpA</dc:identifier>
  <dcterms:modified xsi:type="dcterms:W3CDTF">2011-08-01T06:04:30Z</dcterms:modified>
  <cp:revision>1</cp:revision>
  <dc:title>AC2_WebDesign_Pastelaria_da_Sogra.pptx</dc:title>
</cp:coreProperties>
</file>